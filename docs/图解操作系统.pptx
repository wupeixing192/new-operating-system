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63" r:id="rId6"/>
    <p:sldId id="258" r:id="rId7"/>
    <p:sldId id="264" r:id="rId8"/>
    <p:sldId id="259" r:id="rId9"/>
    <p:sldId id="280" r:id="rId10"/>
    <p:sldId id="260" r:id="rId11"/>
    <p:sldId id="261" r:id="rId12"/>
    <p:sldId id="268" r:id="rId13"/>
    <p:sldId id="269" r:id="rId14"/>
    <p:sldId id="278" r:id="rId15"/>
    <p:sldId id="270" r:id="rId16"/>
    <p:sldId id="271" r:id="rId17"/>
    <p:sldId id="272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65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image" Target="../media/image4.svg"/><Relationship Id="rId15" Type="http://schemas.openxmlformats.org/officeDocument/2006/relationships/image" Target="../media/image3.pn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7" Type="http://schemas.openxmlformats.org/officeDocument/2006/relationships/slideLayout" Target="../slideLayouts/slideLayout2.xml"/><Relationship Id="rId46" Type="http://schemas.openxmlformats.org/officeDocument/2006/relationships/tags" Target="../tags/tag64.xml"/><Relationship Id="rId45" Type="http://schemas.openxmlformats.org/officeDocument/2006/relationships/tags" Target="../tags/tag63.xml"/><Relationship Id="rId44" Type="http://schemas.openxmlformats.org/officeDocument/2006/relationships/tags" Target="../tags/tag62.xml"/><Relationship Id="rId43" Type="http://schemas.openxmlformats.org/officeDocument/2006/relationships/tags" Target="../tags/tag61.xml"/><Relationship Id="rId42" Type="http://schemas.openxmlformats.org/officeDocument/2006/relationships/tags" Target="../tags/tag60.xml"/><Relationship Id="rId41" Type="http://schemas.openxmlformats.org/officeDocument/2006/relationships/tags" Target="../tags/tag59.xml"/><Relationship Id="rId40" Type="http://schemas.openxmlformats.org/officeDocument/2006/relationships/tags" Target="../tags/tag58.xml"/><Relationship Id="rId4" Type="http://schemas.openxmlformats.org/officeDocument/2006/relationships/tags" Target="../tags/tag22.xml"/><Relationship Id="rId39" Type="http://schemas.openxmlformats.org/officeDocument/2006/relationships/tags" Target="../tags/tag57.xml"/><Relationship Id="rId38" Type="http://schemas.openxmlformats.org/officeDocument/2006/relationships/tags" Target="../tags/tag56.xml"/><Relationship Id="rId37" Type="http://schemas.openxmlformats.org/officeDocument/2006/relationships/tags" Target="../tags/tag55.xml"/><Relationship Id="rId36" Type="http://schemas.openxmlformats.org/officeDocument/2006/relationships/tags" Target="../tags/tag54.xml"/><Relationship Id="rId35" Type="http://schemas.openxmlformats.org/officeDocument/2006/relationships/tags" Target="../tags/tag53.xml"/><Relationship Id="rId34" Type="http://schemas.openxmlformats.org/officeDocument/2006/relationships/tags" Target="../tags/tag52.xml"/><Relationship Id="rId33" Type="http://schemas.openxmlformats.org/officeDocument/2006/relationships/tags" Target="../tags/tag51.xml"/><Relationship Id="rId32" Type="http://schemas.openxmlformats.org/officeDocument/2006/relationships/tags" Target="../tags/tag50.xml"/><Relationship Id="rId31" Type="http://schemas.openxmlformats.org/officeDocument/2006/relationships/tags" Target="../tags/tag49.xml"/><Relationship Id="rId30" Type="http://schemas.openxmlformats.org/officeDocument/2006/relationships/tags" Target="../tags/tag48.xml"/><Relationship Id="rId3" Type="http://schemas.openxmlformats.org/officeDocument/2006/relationships/tags" Target="../tags/tag21.xml"/><Relationship Id="rId29" Type="http://schemas.openxmlformats.org/officeDocument/2006/relationships/tags" Target="../tags/tag47.xml"/><Relationship Id="rId28" Type="http://schemas.openxmlformats.org/officeDocument/2006/relationships/tags" Target="../tags/tag46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我的新型操作系统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作者：先行者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BDFL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此操作系统受开源版权保护：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GPL3.0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核心思想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：彻底统一编址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所有资源（内存、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I/O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设备、文件、网络）全部映射到一个64位虚拟地址空间。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将所有资源映射到一个64位地址空间。这消除了内核与用户空间、内存与存储之间无数次的数据复制。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303655" y="3872865"/>
            <a:ext cx="5579110" cy="2304415"/>
            <a:chOff x="3310" y="6099"/>
            <a:chExt cx="8786" cy="3629"/>
          </a:xfrm>
        </p:grpSpPr>
        <p:sp>
          <p:nvSpPr>
            <p:cNvPr id="4" name="矩形 3"/>
            <p:cNvSpPr/>
            <p:nvPr/>
          </p:nvSpPr>
          <p:spPr>
            <a:xfrm>
              <a:off x="6487" y="6202"/>
              <a:ext cx="2605" cy="35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310" y="6202"/>
              <a:ext cx="17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仿宋" panose="02010609060101010101" charset="-122"/>
                  <a:ea typeface="仿宋" panose="02010609060101010101" charset="-122"/>
                </a:rPr>
                <a:t>内存地址</a:t>
              </a:r>
              <a:endParaRPr lang="zh-CN" altLang="en-US">
                <a:latin typeface="仿宋" panose="02010609060101010101" charset="-122"/>
                <a:ea typeface="仿宋" panose="02010609060101010101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3580" y="6765"/>
              <a:ext cx="1207" cy="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00" y="6782"/>
              <a:ext cx="563" cy="4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40" y="7273"/>
              <a:ext cx="17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7355" y="6834"/>
              <a:ext cx="869" cy="213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2400">
                  <a:latin typeface="仿宋" panose="02010609060101010101" charset="-122"/>
                  <a:ea typeface="仿宋" panose="02010609060101010101" charset="-122"/>
                </a:rPr>
                <a:t>虚拟地址</a:t>
              </a:r>
              <a:endParaRPr lang="zh-CN" altLang="en-US" sz="24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580" y="8050"/>
              <a:ext cx="15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I/O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设备</a:t>
              </a:r>
              <a:endPara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3739" y="8528"/>
              <a:ext cx="1143" cy="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4310" y="8544"/>
              <a:ext cx="550" cy="4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4834" y="8973"/>
              <a:ext cx="1636" cy="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9109" y="7273"/>
              <a:ext cx="17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0839" y="6679"/>
              <a:ext cx="599" cy="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10824" y="6663"/>
              <a:ext cx="1207" cy="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0816" y="6099"/>
              <a:ext cx="118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仿宋" panose="02010609060101010101" charset="-122"/>
                  <a:ea typeface="仿宋" panose="02010609060101010101" charset="-122"/>
                </a:rPr>
                <a:t>文件</a:t>
              </a:r>
              <a:endParaRPr lang="zh-CN" altLang="en-US">
                <a:latin typeface="仿宋" panose="02010609060101010101" charset="-122"/>
                <a:ea typeface="仿宋" panose="02010609060101010101" charset="-122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9092" y="8996"/>
              <a:ext cx="17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10816" y="8379"/>
              <a:ext cx="599" cy="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10912" y="7776"/>
              <a:ext cx="118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仿宋" panose="02010609060101010101" charset="-122"/>
                  <a:ea typeface="仿宋" panose="02010609060101010101" charset="-122"/>
                </a:rPr>
                <a:t>网络</a:t>
              </a:r>
              <a:endParaRPr lang="zh-CN" altLang="en-US">
                <a:latin typeface="仿宋" panose="02010609060101010101" charset="-122"/>
                <a:ea typeface="仿宋" panose="02010609060101010101" charset="-122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V="1">
              <a:off x="10816" y="8379"/>
              <a:ext cx="1207" cy="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8482330" y="3317240"/>
            <a:ext cx="2129790" cy="3164205"/>
            <a:chOff x="13707" y="5223"/>
            <a:chExt cx="3354" cy="4983"/>
          </a:xfrm>
        </p:grpSpPr>
        <p:sp>
          <p:nvSpPr>
            <p:cNvPr id="25" name="矩形 24"/>
            <p:cNvSpPr/>
            <p:nvPr/>
          </p:nvSpPr>
          <p:spPr>
            <a:xfrm>
              <a:off x="13707" y="8830"/>
              <a:ext cx="3354" cy="13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3707" y="5223"/>
              <a:ext cx="3354" cy="1440"/>
              <a:chOff x="13707" y="6553"/>
              <a:chExt cx="3354" cy="1440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13707" y="6553"/>
                <a:ext cx="3354" cy="144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4116" y="6834"/>
                <a:ext cx="2536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latin typeface="仿宋" panose="02010609060101010101" charset="-122"/>
                    <a:ea typeface="仿宋" panose="02010609060101010101" charset="-122"/>
                  </a:rPr>
                  <a:t>虚拟地址</a:t>
                </a:r>
                <a:endParaRPr lang="zh-CN" altLang="en-US" sz="2800">
                  <a:latin typeface="仿宋" panose="02010609060101010101" charset="-122"/>
                  <a:ea typeface="仿宋" panose="02010609060101010101" charset="-122"/>
                </a:endParaRPr>
              </a:p>
            </p:txBody>
          </p:sp>
        </p:grpSp>
        <p:sp>
          <p:nvSpPr>
            <p:cNvPr id="28" name="矩形 27"/>
            <p:cNvSpPr/>
            <p:nvPr/>
          </p:nvSpPr>
          <p:spPr>
            <a:xfrm>
              <a:off x="13707" y="7058"/>
              <a:ext cx="3354" cy="13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641" y="7335"/>
              <a:ext cx="148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latin typeface="仿宋" panose="02010609060101010101" charset="-122"/>
                  <a:ea typeface="仿宋" panose="02010609060101010101" charset="-122"/>
                </a:rPr>
                <a:t>页表</a:t>
              </a:r>
              <a:endParaRPr lang="zh-CN" altLang="en-US" sz="28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4015" y="9166"/>
              <a:ext cx="263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latin typeface="仿宋" panose="02010609060101010101" charset="-122"/>
                  <a:ea typeface="仿宋" panose="02010609060101010101" charset="-122"/>
                </a:rPr>
                <a:t>物理地址</a:t>
              </a:r>
              <a:endParaRPr lang="zh-CN" altLang="en-US" sz="28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cxnSp>
          <p:nvCxnSpPr>
            <p:cNvPr id="32" name="直接箭头连接符 31"/>
            <p:cNvCxnSpPr>
              <a:stCxn id="24" idx="2"/>
              <a:endCxn id="28" idx="0"/>
            </p:cNvCxnSpPr>
            <p:nvPr/>
          </p:nvCxnSpPr>
          <p:spPr>
            <a:xfrm>
              <a:off x="15384" y="6663"/>
              <a:ext cx="0" cy="3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28" idx="2"/>
              <a:endCxn id="25" idx="0"/>
            </p:cNvCxnSpPr>
            <p:nvPr/>
          </p:nvCxnSpPr>
          <p:spPr>
            <a:xfrm>
              <a:off x="15384" y="8435"/>
              <a:ext cx="0" cy="3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核心思想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sym typeface="+mn-ea"/>
              </a:rPr>
              <a:t>1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：彻底统一编址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3480"/>
          </a:xfrm>
        </p:spPr>
        <p:txBody>
          <a:bodyPr>
            <a:normAutofit lnSpcReduction="10000"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非恒等映射：（实现方法：物理地址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偏移量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=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虚拟地址）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pPr marL="0" indent="0">
              <a:buNone/>
            </a:pP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028700" y="2720340"/>
            <a:ext cx="9707245" cy="2561590"/>
            <a:chOff x="1620" y="3445"/>
            <a:chExt cx="15287" cy="4034"/>
          </a:xfrm>
        </p:grpSpPr>
        <p:sp>
          <p:nvSpPr>
            <p:cNvPr id="4" name="矩形 3"/>
            <p:cNvSpPr/>
            <p:nvPr/>
          </p:nvSpPr>
          <p:spPr>
            <a:xfrm>
              <a:off x="1620" y="3956"/>
              <a:ext cx="1733" cy="29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052" y="4589"/>
              <a:ext cx="869" cy="170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2400">
                  <a:latin typeface="仿宋" panose="02010609060101010101" charset="-122"/>
                  <a:ea typeface="仿宋" panose="02010609060101010101" charset="-122"/>
                </a:rPr>
                <a:t>用户态</a:t>
              </a:r>
              <a:endParaRPr lang="zh-CN" altLang="en-US" sz="24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179" y="3956"/>
              <a:ext cx="1732" cy="2970"/>
              <a:chOff x="4428" y="3956"/>
              <a:chExt cx="1732" cy="2970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4428" y="3956"/>
                <a:ext cx="1733" cy="297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4860" y="4396"/>
                <a:ext cx="869" cy="209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虚拟地址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736" y="3915"/>
              <a:ext cx="1732" cy="2970"/>
              <a:chOff x="7236" y="3956"/>
              <a:chExt cx="1732" cy="2970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7668" y="4775"/>
                <a:ext cx="869" cy="125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页表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236" y="3956"/>
                <a:ext cx="1733" cy="297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3" name="直接箭头连接符 12"/>
            <p:cNvCxnSpPr>
              <a:stCxn id="4" idx="3"/>
              <a:endCxn id="7" idx="1"/>
            </p:cNvCxnSpPr>
            <p:nvPr/>
          </p:nvCxnSpPr>
          <p:spPr>
            <a:xfrm>
              <a:off x="3353" y="5441"/>
              <a:ext cx="282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3"/>
            </p:cNvCxnSpPr>
            <p:nvPr/>
          </p:nvCxnSpPr>
          <p:spPr>
            <a:xfrm>
              <a:off x="7912" y="5441"/>
              <a:ext cx="2813" cy="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7912" y="5841"/>
              <a:ext cx="2830" cy="1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7918" y="5041"/>
              <a:ext cx="2813" cy="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7912" y="4638"/>
              <a:ext cx="2813" cy="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7912" y="6244"/>
              <a:ext cx="2813" cy="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7912" y="6641"/>
              <a:ext cx="2813" cy="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7912" y="4249"/>
              <a:ext cx="2813" cy="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15725" y="3445"/>
              <a:ext cx="1182" cy="4034"/>
              <a:chOff x="15725" y="3424"/>
              <a:chExt cx="1182" cy="4034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5725" y="3424"/>
                <a:ext cx="1182" cy="403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5882" y="4249"/>
                <a:ext cx="869" cy="221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物理内存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</p:txBody>
          </p:sp>
        </p:grpSp>
        <p:cxnSp>
          <p:nvCxnSpPr>
            <p:cNvPr id="24" name="直接箭头连接符 23"/>
            <p:cNvCxnSpPr/>
            <p:nvPr/>
          </p:nvCxnSpPr>
          <p:spPr>
            <a:xfrm flipV="1">
              <a:off x="12469" y="4086"/>
              <a:ext cx="2793" cy="16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3" name="组合 32"/>
            <p:cNvGrpSpPr/>
            <p:nvPr/>
          </p:nvGrpSpPr>
          <p:grpSpPr>
            <a:xfrm>
              <a:off x="15335" y="4115"/>
              <a:ext cx="402" cy="2658"/>
              <a:chOff x="15322" y="3827"/>
              <a:chExt cx="402" cy="2658"/>
            </a:xfrm>
          </p:grpSpPr>
          <p:cxnSp>
            <p:nvCxnSpPr>
              <p:cNvPr id="25" name="直接连接符 24"/>
              <p:cNvCxnSpPr/>
              <p:nvPr/>
            </p:nvCxnSpPr>
            <p:spPr>
              <a:xfrm>
                <a:off x="15327" y="3827"/>
                <a:ext cx="3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15336" y="4270"/>
                <a:ext cx="3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15322" y="4713"/>
                <a:ext cx="3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15325" y="6042"/>
                <a:ext cx="3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15333" y="6485"/>
                <a:ext cx="3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15336" y="5599"/>
                <a:ext cx="3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15328" y="5156"/>
                <a:ext cx="3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34" name="直接箭头连接符 33"/>
            <p:cNvCxnSpPr/>
            <p:nvPr/>
          </p:nvCxnSpPr>
          <p:spPr>
            <a:xfrm flipV="1">
              <a:off x="12460" y="4576"/>
              <a:ext cx="2770" cy="5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V="1">
              <a:off x="12480" y="4978"/>
              <a:ext cx="2782" cy="7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12463" y="5439"/>
              <a:ext cx="2767" cy="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2463" y="5843"/>
              <a:ext cx="2783" cy="4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12469" y="6255"/>
              <a:ext cx="2793" cy="6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2469" y="6655"/>
              <a:ext cx="2793" cy="1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1" name="文本框 40"/>
          <p:cNvSpPr txBox="1"/>
          <p:nvPr/>
        </p:nvSpPr>
        <p:spPr>
          <a:xfrm>
            <a:off x="838200" y="5396230"/>
            <a:ext cx="10515600" cy="963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仿宋" panose="02010609060101010101" charset="-122"/>
                <a:ea typeface="仿宋" panose="02010609060101010101" charset="-122"/>
                <a:sym typeface="+mn-ea"/>
              </a:rPr>
              <a:t>为什么不用恒等映射？</a:t>
            </a:r>
            <a:endParaRPr lang="zh-CN" altLang="en-US" sz="2800">
              <a:latin typeface="仿宋" panose="02010609060101010101" charset="-122"/>
              <a:ea typeface="仿宋" panose="0201060906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仿宋" panose="02010609060101010101" charset="-122"/>
                <a:ea typeface="仿宋" panose="02010609060101010101" charset="-122"/>
                <a:sym typeface="+mn-ea"/>
              </a:rPr>
              <a:t>物理地址</a:t>
            </a:r>
            <a:r>
              <a:rPr lang="en-US" altLang="zh-CN" sz="2800">
                <a:latin typeface="仿宋" panose="02010609060101010101" charset="-122"/>
                <a:ea typeface="仿宋" panose="02010609060101010101" charset="-122"/>
                <a:sym typeface="+mn-ea"/>
              </a:rPr>
              <a:t>=</a:t>
            </a:r>
            <a:r>
              <a:rPr lang="zh-CN" altLang="en-US" sz="2800">
                <a:latin typeface="仿宋" panose="02010609060101010101" charset="-122"/>
                <a:ea typeface="仿宋" panose="02010609060101010101" charset="-122"/>
                <a:sym typeface="+mn-ea"/>
              </a:rPr>
              <a:t>虚拟地址，一旦攻击者拿到虚拟地址，内存就不安全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1" grpId="0"/>
      <p:bldP spid="4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核心思想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sym typeface="+mn-ea"/>
              </a:rPr>
              <a:t>1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：彻底统一编址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高地址映射：所有物理内存映射到虚拟地址空间的高地址区域，用户态无法直接访问物理地址。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78560" y="2747645"/>
            <a:ext cx="8870315" cy="1582420"/>
            <a:chOff x="1655" y="3728"/>
            <a:chExt cx="13969" cy="2492"/>
          </a:xfrm>
        </p:grpSpPr>
        <p:sp>
          <p:nvSpPr>
            <p:cNvPr id="4" name="矩形 3"/>
            <p:cNvSpPr/>
            <p:nvPr/>
          </p:nvSpPr>
          <p:spPr>
            <a:xfrm>
              <a:off x="1655" y="3728"/>
              <a:ext cx="4453" cy="24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171" y="3728"/>
              <a:ext cx="4453" cy="24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036" y="4466"/>
              <a:ext cx="366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内核</a:t>
              </a:r>
              <a:r>
                <a:rPr lang="en-US" altLang="zh-CN" sz="3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/</a:t>
              </a:r>
              <a:r>
                <a:rPr lang="zh-CN" altLang="en-US" sz="3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用户</a:t>
              </a:r>
              <a:endParaRPr lang="zh-CN" altLang="en-US" sz="3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529" y="4466"/>
              <a:ext cx="173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600">
                  <a:latin typeface="仿宋" panose="02010609060101010101" charset="-122"/>
                  <a:ea typeface="仿宋" panose="02010609060101010101" charset="-122"/>
                </a:rPr>
                <a:t>内存</a:t>
              </a:r>
              <a:endParaRPr lang="zh-CN" altLang="en-US" sz="36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cxnSp>
          <p:nvCxnSpPr>
            <p:cNvPr id="8" name="直接箭头连接符 7"/>
            <p:cNvCxnSpPr>
              <a:stCxn id="4" idx="3"/>
              <a:endCxn id="5" idx="1"/>
            </p:cNvCxnSpPr>
            <p:nvPr/>
          </p:nvCxnSpPr>
          <p:spPr>
            <a:xfrm>
              <a:off x="6108" y="4974"/>
              <a:ext cx="5063" cy="0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1178560" y="4595495"/>
            <a:ext cx="8869680" cy="1582420"/>
            <a:chOff x="1856" y="7237"/>
            <a:chExt cx="13968" cy="2492"/>
          </a:xfrm>
        </p:grpSpPr>
        <p:grpSp>
          <p:nvGrpSpPr>
            <p:cNvPr id="10" name="组合 9"/>
            <p:cNvGrpSpPr/>
            <p:nvPr/>
          </p:nvGrpSpPr>
          <p:grpSpPr>
            <a:xfrm>
              <a:off x="1856" y="7237"/>
              <a:ext cx="13969" cy="2492"/>
              <a:chOff x="1655" y="3728"/>
              <a:chExt cx="13969" cy="2492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1655" y="3728"/>
                <a:ext cx="4453" cy="249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1171" y="3728"/>
                <a:ext cx="4453" cy="249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2443" y="4466"/>
                <a:ext cx="2854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Ring0/3</a:t>
                </a:r>
                <a:endParaRPr lang="zh-CN" altLang="en-US" sz="3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2529" y="4466"/>
                <a:ext cx="1737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600">
                    <a:latin typeface="仿宋" panose="02010609060101010101" charset="-122"/>
                    <a:ea typeface="仿宋" panose="02010609060101010101" charset="-122"/>
                  </a:rPr>
                  <a:t>内存</a:t>
                </a:r>
                <a:endParaRPr lang="zh-CN" altLang="en-US" sz="3600">
                  <a:latin typeface="仿宋" panose="02010609060101010101" charset="-122"/>
                  <a:ea typeface="仿宋" panose="02010609060101010101" charset="-122"/>
                </a:endParaRP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7738" y="7248"/>
              <a:ext cx="2204" cy="24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260" y="7622"/>
              <a:ext cx="1160" cy="17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3600">
                  <a:latin typeface="仿宋" panose="02010609060101010101" charset="-122"/>
                  <a:ea typeface="仿宋" panose="02010609060101010101" charset="-122"/>
                </a:rPr>
                <a:t>页表</a:t>
              </a:r>
              <a:endParaRPr lang="zh-CN" altLang="en-US" sz="36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cxnSp>
          <p:nvCxnSpPr>
            <p:cNvPr id="20" name="直接箭头连接符 19"/>
            <p:cNvCxnSpPr>
              <a:stCxn id="11" idx="3"/>
              <a:endCxn id="17" idx="1"/>
            </p:cNvCxnSpPr>
            <p:nvPr/>
          </p:nvCxnSpPr>
          <p:spPr>
            <a:xfrm>
              <a:off x="6309" y="8483"/>
              <a:ext cx="1429" cy="6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7" idx="3"/>
              <a:endCxn id="12" idx="1"/>
            </p:cNvCxnSpPr>
            <p:nvPr/>
          </p:nvCxnSpPr>
          <p:spPr>
            <a:xfrm flipV="1">
              <a:off x="9942" y="8483"/>
              <a:ext cx="1430" cy="6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核心思想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：语言即是隔离墙</a:t>
            </a:r>
            <a:endParaRPr lang="en-US" altLang="zh-CN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Rust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的类型系统、所有权和借用检查，替代 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MMU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硬件隔离，实现单地址空间内的安全。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这意味着极其轻量的上下文切换，和实现上的划时代安全。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203325" y="3422650"/>
            <a:ext cx="9368790" cy="2802255"/>
            <a:chOff x="2381" y="5853"/>
            <a:chExt cx="14754" cy="4413"/>
          </a:xfrm>
        </p:grpSpPr>
        <p:sp>
          <p:nvSpPr>
            <p:cNvPr id="4" name="椭圆 3"/>
            <p:cNvSpPr/>
            <p:nvPr/>
          </p:nvSpPr>
          <p:spPr>
            <a:xfrm>
              <a:off x="2381" y="5853"/>
              <a:ext cx="4148" cy="184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7684" y="5853"/>
              <a:ext cx="4148" cy="184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12987" y="5853"/>
              <a:ext cx="4148" cy="184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01" y="6366"/>
              <a:ext cx="290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无</a:t>
              </a:r>
              <a:r>
                <a:rPr lang="en-US" altLang="zh-CN" sz="28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TLB</a:t>
              </a:r>
              <a:r>
                <a:rPr lang="zh-CN" altLang="en-US" sz="28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刷新</a:t>
              </a:r>
              <a:endParaRPr lang="zh-CN" altLang="en-US" sz="28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  <p:cxnSp>
          <p:nvCxnSpPr>
            <p:cNvPr id="8" name="直接箭头连接符 7"/>
            <p:cNvCxnSpPr>
              <a:stCxn id="4" idx="6"/>
              <a:endCxn id="5" idx="2"/>
            </p:cNvCxnSpPr>
            <p:nvPr/>
          </p:nvCxnSpPr>
          <p:spPr>
            <a:xfrm>
              <a:off x="6529" y="6777"/>
              <a:ext cx="115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>
              <a:stCxn id="6" idx="2"/>
              <a:endCxn id="5" idx="6"/>
            </p:cNvCxnSpPr>
            <p:nvPr/>
          </p:nvCxnSpPr>
          <p:spPr>
            <a:xfrm flipH="1">
              <a:off x="11832" y="6777"/>
              <a:ext cx="115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14137" y="6366"/>
              <a:ext cx="184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无</a:t>
              </a:r>
              <a:r>
                <a:rPr lang="en-US" altLang="zh-CN" sz="28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CR3</a:t>
              </a:r>
              <a:endParaRPr lang="en-US" altLang="zh-CN" sz="28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861" y="6366"/>
              <a:ext cx="17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600">
                  <a:latin typeface="仿宋" panose="02010609060101010101" charset="-122"/>
                  <a:ea typeface="仿宋" panose="02010609060101010101" charset="-122"/>
                </a:rPr>
                <a:t>页表</a:t>
              </a:r>
              <a:endParaRPr lang="zh-CN" altLang="en-US" sz="36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7684" y="8419"/>
              <a:ext cx="4148" cy="184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625" y="8883"/>
              <a:ext cx="226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仿宋" panose="02010609060101010101" charset="-122"/>
                  <a:ea typeface="仿宋" panose="02010609060101010101" charset="-122"/>
                </a:rPr>
                <a:t>无分页</a:t>
              </a:r>
              <a:endParaRPr lang="zh-CN" altLang="en-US" sz="32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cxnSp>
          <p:nvCxnSpPr>
            <p:cNvPr id="14" name="直接箭头连接符 13"/>
            <p:cNvCxnSpPr>
              <a:stCxn id="12" idx="0"/>
              <a:endCxn id="5" idx="4"/>
            </p:cNvCxnSpPr>
            <p:nvPr/>
          </p:nvCxnSpPr>
          <p:spPr>
            <a:xfrm flipV="1">
              <a:off x="9758" y="7700"/>
              <a:ext cx="0" cy="71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核心思想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sym typeface="+mn-ea"/>
              </a:rPr>
              <a:t>2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：语言即是隔离墙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页表不再是管理权限，而是直接的转换器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836420" y="3081655"/>
            <a:ext cx="4948555" cy="2047240"/>
            <a:chOff x="2219" y="4014"/>
            <a:chExt cx="7793" cy="3224"/>
          </a:xfrm>
        </p:grpSpPr>
        <p:sp>
          <p:nvSpPr>
            <p:cNvPr id="4" name="椭圆 3"/>
            <p:cNvSpPr/>
            <p:nvPr/>
          </p:nvSpPr>
          <p:spPr>
            <a:xfrm>
              <a:off x="2219" y="4670"/>
              <a:ext cx="3484" cy="191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8084" y="4014"/>
              <a:ext cx="1928" cy="32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135" y="5167"/>
              <a:ext cx="165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仿宋" panose="02010609060101010101" charset="-122"/>
                  <a:ea typeface="仿宋" panose="02010609060101010101" charset="-122"/>
                </a:rPr>
                <a:t>权限</a:t>
              </a:r>
              <a:endParaRPr lang="zh-CN" altLang="en-US" sz="32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1" name="右箭头 10"/>
            <p:cNvSpPr/>
            <p:nvPr/>
          </p:nvSpPr>
          <p:spPr>
            <a:xfrm>
              <a:off x="5897" y="5167"/>
              <a:ext cx="1993" cy="1037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6189" y="5026"/>
              <a:ext cx="1345" cy="13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6189" y="4961"/>
              <a:ext cx="1199" cy="12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20" y="4670"/>
              <a:ext cx="1257" cy="182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4000">
                  <a:latin typeface="仿宋" panose="02010609060101010101" charset="-122"/>
                  <a:ea typeface="仿宋" panose="02010609060101010101" charset="-122"/>
                </a:rPr>
                <a:t>页表</a:t>
              </a:r>
              <a:endParaRPr lang="zh-CN" altLang="en-US" sz="40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235315" y="2567940"/>
            <a:ext cx="2334260" cy="2915285"/>
            <a:chOff x="13161" y="3488"/>
            <a:chExt cx="3676" cy="4591"/>
          </a:xfrm>
        </p:grpSpPr>
        <p:sp>
          <p:nvSpPr>
            <p:cNvPr id="6" name="椭圆 5"/>
            <p:cNvSpPr/>
            <p:nvPr/>
          </p:nvSpPr>
          <p:spPr>
            <a:xfrm>
              <a:off x="13161" y="3488"/>
              <a:ext cx="3484" cy="191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3161" y="6345"/>
              <a:ext cx="3677" cy="17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下箭头 14"/>
            <p:cNvSpPr/>
            <p:nvPr/>
          </p:nvSpPr>
          <p:spPr>
            <a:xfrm>
              <a:off x="14142" y="5577"/>
              <a:ext cx="1523" cy="665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4142" y="4044"/>
              <a:ext cx="165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仿宋" panose="02010609060101010101" charset="-122"/>
                  <a:ea typeface="仿宋" panose="02010609060101010101" charset="-122"/>
                </a:rPr>
                <a:t>权限</a:t>
              </a:r>
              <a:endParaRPr lang="zh-CN" altLang="en-US" sz="32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3517" y="6753"/>
              <a:ext cx="296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仿宋" panose="02010609060101010101" charset="-122"/>
                  <a:ea typeface="仿宋" panose="02010609060101010101" charset="-122"/>
                </a:rPr>
                <a:t>能力令牌</a:t>
              </a:r>
              <a:endParaRPr lang="zh-CN" altLang="en-US" sz="32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核心思想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：能力授权引擎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74210"/>
          </a:xfrm>
        </p:spPr>
        <p:txBody>
          <a:bodyPr>
            <a:normAutofit fontScale="90000"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不具伪造性的令牌作为一切资源访问的唯一凭证。这不只是安全，它重新定义了“程序”与“权限”的关系——不是谁拥有更多权限，而是谁能证明它应该被允许。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内核会验证合法请求：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本新型操作系统令牌 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auth_hash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采用 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SHA-256（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企业级可选 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SHA-3）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作为防篡改校验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真令牌：核对厂商，核对哈希，唯一合法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只读：内核返回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Error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无权限：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内核返回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Error</a:t>
            </a:r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伪造：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核对厂商与哈希，内核返回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Error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互为因果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38200" y="1633220"/>
            <a:ext cx="10781665" cy="3393440"/>
            <a:chOff x="1111" y="3917"/>
            <a:chExt cx="16979" cy="5344"/>
          </a:xfrm>
        </p:grpSpPr>
        <p:sp>
          <p:nvSpPr>
            <p:cNvPr id="4" name="平行四边形 3"/>
            <p:cNvSpPr/>
            <p:nvPr>
              <p:custDataLst>
                <p:tags r:id="rId1"/>
              </p:custDataLst>
            </p:nvPr>
          </p:nvSpPr>
          <p:spPr>
            <a:xfrm rot="16200000">
              <a:off x="6406" y="4943"/>
              <a:ext cx="834" cy="966"/>
            </a:xfrm>
            <a:prstGeom prst="parallelogram">
              <a:avLst>
                <a:gd name="adj" fmla="val 47404"/>
              </a:avLst>
            </a:prstGeom>
            <a:gradFill>
              <a:gsLst>
                <a:gs pos="0">
                  <a:srgbClr val="376FFF">
                    <a:lumMod val="85000"/>
                  </a:srgbClr>
                </a:gs>
                <a:gs pos="100000">
                  <a:srgbClr val="376FFF">
                    <a:alpha val="100000"/>
                  </a:srgb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cxnSp>
          <p:nvCxnSpPr>
            <p:cNvPr id="28" name="直接连接符 27"/>
            <p:cNvCxnSpPr/>
            <p:nvPr>
              <p:custDataLst>
                <p:tags r:id="rId2"/>
              </p:custDataLst>
            </p:nvPr>
          </p:nvCxnSpPr>
          <p:spPr>
            <a:xfrm>
              <a:off x="11950" y="4753"/>
              <a:ext cx="1308" cy="13"/>
            </a:xfrm>
            <a:prstGeom prst="line">
              <a:avLst/>
            </a:prstGeom>
            <a:ln w="9525">
              <a:solidFill>
                <a:srgbClr val="376FFF">
                  <a:lumMod val="60000"/>
                  <a:lumOff val="40000"/>
                </a:srgbClr>
              </a:solidFill>
              <a:prstDash val="dash"/>
              <a:headEnd type="oval" w="sm" len="sm"/>
              <a:tailEnd type="oval" w="sm" len="sm"/>
            </a:ln>
          </p:spPr>
          <p:style>
            <a:lnRef idx="2">
              <a:srgbClr val="376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14262" y="3917"/>
              <a:ext cx="3829" cy="184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l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cs typeface="微软雅黑" panose="020B0503020204020204" charset="-122"/>
                </a:rPr>
                <a:t>所有资源在同一地址空间</a:t>
              </a:r>
              <a:endParaRPr lang="zh-CN" altLang="en-US" sz="16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4"/>
              </p:custDataLst>
            </p:nvPr>
          </p:nvSpPr>
          <p:spPr>
            <a:xfrm>
              <a:off x="13394" y="4404"/>
              <a:ext cx="724" cy="724"/>
            </a:xfrm>
            <a:prstGeom prst="ellipse">
              <a:avLst/>
            </a:prstGeom>
            <a:gradFill>
              <a:gsLst>
                <a:gs pos="0">
                  <a:srgbClr val="376FFF">
                    <a:lumMod val="75000"/>
                    <a:lumOff val="25000"/>
                  </a:srgbClr>
                </a:gs>
                <a:gs pos="100000">
                  <a:srgbClr val="376FFF">
                    <a:lumMod val="85000"/>
                    <a:lumOff val="15000"/>
                  </a:srgbClr>
                </a:gs>
              </a:gsLst>
              <a:lin ang="2640000" scaled="0"/>
            </a:gradFill>
            <a:ln w="31750"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15" name="图片 12" descr="343439383331313b343532303032383bbfcdbba7b9dcc0ed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562" y="4578"/>
              <a:ext cx="375" cy="375"/>
            </a:xfrm>
            <a:prstGeom prst="rect">
              <a:avLst/>
            </a:prstGeom>
          </p:spPr>
        </p:pic>
        <p:sp>
          <p:nvSpPr>
            <p:cNvPr id="10" name="标题"/>
            <p:cNvSpPr/>
            <p:nvPr>
              <p:custDataLst>
                <p:tags r:id="rId8"/>
              </p:custDataLst>
            </p:nvPr>
          </p:nvSpPr>
          <p:spPr>
            <a:xfrm>
              <a:off x="6339" y="4086"/>
              <a:ext cx="5291" cy="1361"/>
            </a:xfrm>
            <a:prstGeom prst="rect">
              <a:avLst/>
            </a:prstGeom>
            <a:gradFill>
              <a:gsLst>
                <a:gs pos="80000">
                  <a:srgbClr val="376FFF">
                    <a:lumMod val="70000"/>
                    <a:lumOff val="30000"/>
                  </a:srgbClr>
                </a:gs>
                <a:gs pos="20000">
                  <a:srgbClr val="376FFF"/>
                </a:gs>
              </a:gsLst>
              <a:lin ang="8100000" scaled="0"/>
            </a:gradFill>
            <a:ln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zh-CN" altLang="en-US" b="1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彻底统一编址</a:t>
              </a:r>
              <a:endParaRPr lang="zh-CN" altLang="en-US" b="1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" name="平行四边形 5"/>
            <p:cNvSpPr/>
            <p:nvPr>
              <p:custDataLst>
                <p:tags r:id="rId9"/>
              </p:custDataLst>
            </p:nvPr>
          </p:nvSpPr>
          <p:spPr>
            <a:xfrm rot="16200000" flipH="1">
              <a:off x="11962" y="6684"/>
              <a:ext cx="834" cy="966"/>
            </a:xfrm>
            <a:prstGeom prst="parallelogram">
              <a:avLst>
                <a:gd name="adj" fmla="val 47404"/>
              </a:avLst>
            </a:prstGeom>
            <a:gradFill>
              <a:gsLst>
                <a:gs pos="0">
                  <a:srgbClr val="17D594">
                    <a:lumMod val="75000"/>
                  </a:srgbClr>
                </a:gs>
                <a:gs pos="100000">
                  <a:srgbClr val="17D594">
                    <a:lumMod val="90000"/>
                  </a:srgb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cxnSp>
          <p:nvCxnSpPr>
            <p:cNvPr id="7" name="直接连接符 6"/>
            <p:cNvCxnSpPr/>
            <p:nvPr>
              <p:custDataLst>
                <p:tags r:id="rId10"/>
              </p:custDataLst>
            </p:nvPr>
          </p:nvCxnSpPr>
          <p:spPr>
            <a:xfrm flipH="1">
              <a:off x="5944" y="6507"/>
              <a:ext cx="1301" cy="0"/>
            </a:xfrm>
            <a:prstGeom prst="line">
              <a:avLst/>
            </a:prstGeom>
            <a:ln w="9525">
              <a:solidFill>
                <a:srgbClr val="17D594">
                  <a:lumMod val="60000"/>
                  <a:lumOff val="40000"/>
                </a:srgbClr>
              </a:solidFill>
              <a:prstDash val="dash"/>
              <a:headEnd type="oval" w="sm" len="sm"/>
              <a:tailEnd type="oval" w="sm" len="sm"/>
            </a:ln>
          </p:spPr>
          <p:style>
            <a:lnRef idx="2">
              <a:srgbClr val="376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sp>
          <p:nvSpPr>
            <p:cNvPr id="9" name="矩形 8"/>
            <p:cNvSpPr/>
            <p:nvPr>
              <p:custDataLst>
                <p:tags r:id="rId11"/>
              </p:custDataLst>
            </p:nvPr>
          </p:nvSpPr>
          <p:spPr>
            <a:xfrm flipH="1">
              <a:off x="1111" y="5658"/>
              <a:ext cx="3829" cy="184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charset="-122"/>
                  <a:cs typeface="微软雅黑" panose="020B0503020204020204" charset="-122"/>
                </a:rPr>
                <a:t>Rust </a:t>
              </a:r>
              <a:r>
                <a:rPr lang="zh-CN" altLang="en-US" sz="160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charset="-122"/>
                  <a:cs typeface="微软雅黑" panose="020B0503020204020204" charset="-122"/>
                </a:rPr>
                <a:t>编译期保证安全</a:t>
              </a:r>
              <a:endParaRPr lang="zh-CN" altLang="en-US" sz="1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标题"/>
            <p:cNvSpPr/>
            <p:nvPr>
              <p:custDataLst>
                <p:tags r:id="rId12"/>
              </p:custDataLst>
            </p:nvPr>
          </p:nvSpPr>
          <p:spPr>
            <a:xfrm flipH="1">
              <a:off x="7572" y="5827"/>
              <a:ext cx="5291" cy="1361"/>
            </a:xfrm>
            <a:prstGeom prst="rect">
              <a:avLst/>
            </a:prstGeom>
            <a:gradFill>
              <a:gsLst>
                <a:gs pos="80000">
                  <a:srgbClr val="17D594">
                    <a:lumMod val="70000"/>
                    <a:lumOff val="30000"/>
                  </a:srgbClr>
                </a:gs>
                <a:gs pos="20000">
                  <a:srgbClr val="17D594"/>
                </a:gs>
              </a:gsLst>
              <a:lin ang="8100000" scaled="0"/>
            </a:gradFill>
            <a:ln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b="1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语言即是隔离墙</a:t>
              </a:r>
              <a:endParaRPr lang="zh-CN" altLang="en-US" b="1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13"/>
              </p:custDataLst>
            </p:nvPr>
          </p:nvSpPr>
          <p:spPr>
            <a:xfrm flipH="1">
              <a:off x="5108" y="6133"/>
              <a:ext cx="724" cy="724"/>
            </a:xfrm>
            <a:prstGeom prst="ellipse">
              <a:avLst/>
            </a:prstGeom>
            <a:gradFill>
              <a:gsLst>
                <a:gs pos="0">
                  <a:srgbClr val="17D594">
                    <a:lumMod val="75000"/>
                    <a:lumOff val="25000"/>
                  </a:srgbClr>
                </a:gs>
                <a:gs pos="100000">
                  <a:srgbClr val="17D594">
                    <a:lumMod val="85000"/>
                    <a:lumOff val="15000"/>
                  </a:srgbClr>
                </a:gs>
              </a:gsLst>
              <a:lin ang="2640000" scaled="0"/>
            </a:gradFill>
            <a:ln w="31750"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19" name="图片 14" descr="343439383331313b343532303033303bd2d1b9bad3a6d3c3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326" y="6336"/>
              <a:ext cx="355" cy="355"/>
            </a:xfrm>
            <a:prstGeom prst="rect">
              <a:avLst/>
            </a:prstGeom>
          </p:spPr>
        </p:pic>
        <p:sp>
          <p:nvSpPr>
            <p:cNvPr id="11" name="平行四边形 10"/>
            <p:cNvSpPr/>
            <p:nvPr>
              <p:custDataLst>
                <p:tags r:id="rId17"/>
              </p:custDataLst>
            </p:nvPr>
          </p:nvSpPr>
          <p:spPr>
            <a:xfrm rot="16200000">
              <a:off x="6406" y="8361"/>
              <a:ext cx="834" cy="966"/>
            </a:xfrm>
            <a:prstGeom prst="parallelogram">
              <a:avLst>
                <a:gd name="adj" fmla="val 47404"/>
              </a:avLst>
            </a:prstGeom>
            <a:gradFill>
              <a:gsLst>
                <a:gs pos="0">
                  <a:srgbClr val="FFC000">
                    <a:lumMod val="85000"/>
                  </a:srgbClr>
                </a:gs>
                <a:gs pos="100000">
                  <a:srgbClr val="FFC000"/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18"/>
              </p:custDataLst>
            </p:nvPr>
          </p:nvCxnSpPr>
          <p:spPr>
            <a:xfrm flipV="1">
              <a:off x="11957" y="8184"/>
              <a:ext cx="1301" cy="1"/>
            </a:xfrm>
            <a:prstGeom prst="line">
              <a:avLst/>
            </a:prstGeom>
            <a:ln w="9525">
              <a:solidFill>
                <a:srgbClr val="FFC000">
                  <a:lumMod val="60000"/>
                  <a:lumOff val="40000"/>
                </a:srgbClr>
              </a:solidFill>
              <a:prstDash val="dash"/>
              <a:headEnd type="oval" w="sm" len="sm"/>
              <a:tailEnd type="oval" w="sm" len="sm"/>
            </a:ln>
          </p:spPr>
          <p:style>
            <a:lnRef idx="2">
              <a:srgbClr val="376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sp>
          <p:nvSpPr>
            <p:cNvPr id="14" name="矩形 13"/>
            <p:cNvSpPr/>
            <p:nvPr>
              <p:custDataLst>
                <p:tags r:id="rId19"/>
              </p:custDataLst>
            </p:nvPr>
          </p:nvSpPr>
          <p:spPr>
            <a:xfrm>
              <a:off x="14262" y="7335"/>
              <a:ext cx="3829" cy="184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l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latin typeface="微软雅黑" panose="020B0503020204020204" charset="-122"/>
                  <a:cs typeface="微软雅黑" panose="020B0503020204020204" charset="-122"/>
                </a:rPr>
                <a:t>令牌是唯一访问凭证</a:t>
              </a:r>
              <a:endParaRPr lang="zh-CN" altLang="en-US" sz="1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20"/>
              </p:custDataLst>
            </p:nvPr>
          </p:nvSpPr>
          <p:spPr>
            <a:xfrm>
              <a:off x="13394" y="7822"/>
              <a:ext cx="724" cy="724"/>
            </a:xfrm>
            <a:prstGeom prst="ellipse">
              <a:avLst/>
            </a:prstGeom>
            <a:solidFill>
              <a:srgbClr val="FFC000"/>
            </a:solidFill>
            <a:ln w="31750"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17" name="图片 12" descr="343439383331313b343532303032383bbfcdbba7b9dcc0ed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562" y="7996"/>
              <a:ext cx="375" cy="375"/>
            </a:xfrm>
            <a:prstGeom prst="rect">
              <a:avLst/>
            </a:prstGeom>
          </p:spPr>
        </p:pic>
        <p:sp>
          <p:nvSpPr>
            <p:cNvPr id="18" name="标题"/>
            <p:cNvSpPr/>
            <p:nvPr>
              <p:custDataLst>
                <p:tags r:id="rId22"/>
              </p:custDataLst>
            </p:nvPr>
          </p:nvSpPr>
          <p:spPr>
            <a:xfrm>
              <a:off x="6339" y="7504"/>
              <a:ext cx="5291" cy="1361"/>
            </a:xfrm>
            <a:prstGeom prst="rect">
              <a:avLst/>
            </a:prstGeom>
            <a:gradFill>
              <a:gsLst>
                <a:gs pos="80000">
                  <a:srgbClr val="FFC000">
                    <a:lumMod val="70000"/>
                    <a:lumOff val="30000"/>
                  </a:srgbClr>
                </a:gs>
                <a:gs pos="20000">
                  <a:srgbClr val="FFC000"/>
                </a:gs>
              </a:gsLst>
              <a:lin ang="8100000" scaled="0"/>
            </a:gradFill>
            <a:ln>
              <a:noFill/>
            </a:ln>
            <a:effectLst/>
          </p:spPr>
          <p:style>
            <a:lnRef idx="2">
              <a:srgbClr val="376FFF">
                <a:shade val="50000"/>
              </a:srgbClr>
            </a:lnRef>
            <a:fillRef idx="1">
              <a:srgbClr val="376FFF"/>
            </a:fillRef>
            <a:effectRef idx="0">
              <a:srgbClr val="376F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zh-CN" altLang="en-US" b="1">
                  <a:solidFill>
                    <a:srgbClr val="FFFFFF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能力授权引擎</a:t>
              </a:r>
              <a:endParaRPr lang="zh-CN" altLang="en-US" b="1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838200" y="5221605"/>
            <a:ext cx="105149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统一编址提供零拷贝数据通道</a:t>
            </a:r>
            <a:r>
              <a:rPr lang="zh-CN" altLang="en-US" sz="28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→ </a:t>
            </a:r>
            <a:r>
              <a:rPr lang="zh-CN" altLang="en-US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语言隔离墙无需页表切换</a:t>
            </a:r>
            <a:r>
              <a:rPr lang="zh-CN" altLang="en-US" sz="28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→ </a:t>
            </a:r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能力令牌确保访问即授权。</a:t>
            </a:r>
            <a:r>
              <a:rPr lang="zh-C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三者缺一不可，互为因果</a:t>
            </a:r>
            <a:endParaRPr lang="zh-C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颠覆你的认知：键值存储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没有文件系统，使用一整块磁盘，无分区，所有数据统一放在存储池</a:t>
            </a:r>
            <a:endParaRPr lang="en-US" altLang="zh-CN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38200" y="2553970"/>
            <a:ext cx="7458710" cy="2869565"/>
            <a:chOff x="1320" y="4022"/>
            <a:chExt cx="11746" cy="4519"/>
          </a:xfrm>
        </p:grpSpPr>
        <p:sp>
          <p:nvSpPr>
            <p:cNvPr id="4" name="流程图: 多文档 3"/>
            <p:cNvSpPr/>
            <p:nvPr/>
          </p:nvSpPr>
          <p:spPr>
            <a:xfrm>
              <a:off x="1320" y="4589"/>
              <a:ext cx="7291" cy="3953"/>
            </a:xfrm>
            <a:prstGeom prst="flowChartMultidocumen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187" y="5961"/>
              <a:ext cx="4714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400">
                  <a:latin typeface="仿宋" panose="02010609060101010101" charset="-122"/>
                  <a:ea typeface="仿宋" panose="02010609060101010101" charset="-122"/>
                </a:rPr>
                <a:t>软件与数据</a:t>
              </a:r>
              <a:endParaRPr lang="zh-CN" altLang="en-US" sz="44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600" y="4022"/>
              <a:ext cx="3466" cy="842"/>
              <a:chOff x="9600" y="4022"/>
              <a:chExt cx="3466" cy="842"/>
            </a:xfrm>
          </p:grpSpPr>
          <p:sp>
            <p:nvSpPr>
              <p:cNvPr id="6" name="线形标注 1(带边框和强调线) 5"/>
              <p:cNvSpPr/>
              <p:nvPr/>
            </p:nvSpPr>
            <p:spPr>
              <a:xfrm>
                <a:off x="9600" y="4022"/>
                <a:ext cx="3467" cy="842"/>
              </a:xfrm>
              <a:prstGeom prst="accentBorderCallout1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0053" y="4042"/>
                <a:ext cx="2560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latin typeface="仿宋" panose="02010609060101010101" charset="-122"/>
                    <a:ea typeface="仿宋" panose="02010609060101010101" charset="-122"/>
                  </a:rPr>
                  <a:t>物理磁盘</a:t>
                </a:r>
                <a:endParaRPr lang="zh-CN" altLang="en-US" sz="2800">
                  <a:latin typeface="仿宋" panose="02010609060101010101" charset="-122"/>
                  <a:ea typeface="仿宋" panose="02010609060101010101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9103" y="5400"/>
              <a:ext cx="3467" cy="842"/>
              <a:chOff x="9600" y="4022"/>
              <a:chExt cx="3467" cy="842"/>
            </a:xfrm>
          </p:grpSpPr>
          <p:sp>
            <p:nvSpPr>
              <p:cNvPr id="10" name="线形标注 1(带边框和强调线) 9"/>
              <p:cNvSpPr/>
              <p:nvPr/>
            </p:nvSpPr>
            <p:spPr>
              <a:xfrm>
                <a:off x="9600" y="4022"/>
                <a:ext cx="3467" cy="842"/>
              </a:xfrm>
              <a:prstGeom prst="accentBorderCallout1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345" y="4022"/>
                <a:ext cx="1978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latin typeface="仿宋" panose="02010609060101010101" charset="-122"/>
                    <a:ea typeface="仿宋" panose="02010609060101010101" charset="-122"/>
                  </a:rPr>
                  <a:t>存储池</a:t>
                </a:r>
                <a:endParaRPr lang="zh-CN" altLang="en-US" sz="2800">
                  <a:latin typeface="仿宋" panose="02010609060101010101" charset="-122"/>
                  <a:ea typeface="仿宋" panose="02010609060101010101" charset="-122"/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4958080" y="2566670"/>
            <a:ext cx="5921375" cy="3543935"/>
            <a:chOff x="7808" y="4042"/>
            <a:chExt cx="9325" cy="5581"/>
          </a:xfrm>
        </p:grpSpPr>
        <p:sp>
          <p:nvSpPr>
            <p:cNvPr id="12" name="矩形 11"/>
            <p:cNvSpPr/>
            <p:nvPr/>
          </p:nvSpPr>
          <p:spPr>
            <a:xfrm>
              <a:off x="14055" y="4042"/>
              <a:ext cx="3078" cy="45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4773" y="4589"/>
              <a:ext cx="1451" cy="36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4800">
                  <a:latin typeface="仿宋" panose="02010609060101010101" charset="-122"/>
                  <a:ea typeface="仿宋" panose="02010609060101010101" charset="-122"/>
                </a:rPr>
                <a:t>存储表</a:t>
              </a:r>
              <a:endParaRPr lang="zh-CN" altLang="en-US" sz="48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7808" y="7797"/>
              <a:ext cx="4762" cy="1826"/>
              <a:chOff x="7274" y="8057"/>
              <a:chExt cx="4762" cy="1826"/>
            </a:xfrm>
          </p:grpSpPr>
          <p:sp>
            <p:nvSpPr>
              <p:cNvPr id="14" name="线形标注 1(带边框和强调线) 13"/>
              <p:cNvSpPr/>
              <p:nvPr/>
            </p:nvSpPr>
            <p:spPr>
              <a:xfrm rot="10800000">
                <a:off x="7274" y="8057"/>
                <a:ext cx="4552" cy="1827"/>
              </a:xfrm>
              <a:prstGeom prst="accentBorderCallout1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7274" y="8189"/>
                <a:ext cx="4763" cy="1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hash 1 XXXX 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第</a:t>
                </a:r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X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个第</a:t>
                </a:r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X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号扇区</a:t>
                </a:r>
                <a:endParaRPr lang="en-US" altLang="zh-CN" sz="1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hash 2 XXXX 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第</a:t>
                </a:r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X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个第</a:t>
                </a:r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X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号扇区</a:t>
                </a:r>
                <a:endParaRPr lang="en-US" altLang="zh-CN" sz="1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hash 3 XXXX 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第</a:t>
                </a:r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X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个第</a:t>
                </a:r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X</a:t>
                </a:r>
                <a:r>
                  <a:rPr lang="zh-CN" altLang="en-US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  <a:sym typeface="+mn-ea"/>
                  </a:rPr>
                  <a:t>号扇区</a:t>
                </a:r>
                <a:endParaRPr lang="zh-CN" altLang="en-US" sz="1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endParaRPr>
              </a:p>
              <a:p>
                <a:r>
                  <a:rPr lang="en-US" altLang="zh-CN" sz="16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······</a:t>
                </a:r>
                <a:endParaRPr lang="en-US" altLang="zh-CN" sz="16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颠覆你的认知：键值存储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操作系统精准定位扇区，大大减少搜索延迟带来的时间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09015" y="2687320"/>
            <a:ext cx="10626725" cy="3764280"/>
            <a:chOff x="1589" y="4232"/>
            <a:chExt cx="16735" cy="5928"/>
          </a:xfrm>
        </p:grpSpPr>
        <p:sp>
          <p:nvSpPr>
            <p:cNvPr id="4" name="矩形 3"/>
            <p:cNvSpPr/>
            <p:nvPr/>
          </p:nvSpPr>
          <p:spPr>
            <a:xfrm>
              <a:off x="1589" y="4232"/>
              <a:ext cx="1977" cy="46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138" y="4265"/>
              <a:ext cx="4051" cy="46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12411" y="4232"/>
              <a:ext cx="4034" cy="392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13828" y="5601"/>
              <a:ext cx="1199" cy="118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 flipV="1">
              <a:off x="12638" y="5358"/>
              <a:ext cx="97" cy="2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线形标注 2(带边框和强调线) 14"/>
            <p:cNvSpPr/>
            <p:nvPr/>
          </p:nvSpPr>
          <p:spPr>
            <a:xfrm rot="10800000">
              <a:off x="10774" y="5755"/>
              <a:ext cx="1329" cy="3775"/>
            </a:xfrm>
            <a:prstGeom prst="accentBorderCallout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807" y="4677"/>
              <a:ext cx="2090" cy="924"/>
            </a:xfrm>
            <a:prstGeom prst="chevr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燕尾形 16"/>
            <p:cNvSpPr/>
            <p:nvPr/>
          </p:nvSpPr>
          <p:spPr>
            <a:xfrm>
              <a:off x="10430" y="4677"/>
              <a:ext cx="2090" cy="924"/>
            </a:xfrm>
            <a:prstGeom prst="chevr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046" y="4455"/>
              <a:ext cx="1063" cy="41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3200">
                  <a:latin typeface="仿宋" panose="02010609060101010101" charset="-122"/>
                  <a:ea typeface="仿宋" panose="02010609060101010101" charset="-122"/>
                </a:rPr>
                <a:t>操作系统查找</a:t>
              </a:r>
              <a:endParaRPr lang="zh-CN" altLang="en-US" sz="32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87" y="5011"/>
              <a:ext cx="1354" cy="31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4400">
                  <a:latin typeface="仿宋" panose="02010609060101010101" charset="-122"/>
                  <a:ea typeface="仿宋" panose="02010609060101010101" charset="-122"/>
                </a:rPr>
                <a:t>哈希表</a:t>
              </a:r>
              <a:endParaRPr lang="zh-CN" altLang="en-US" sz="44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846" y="5755"/>
              <a:ext cx="1257" cy="345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4000">
                  <a:latin typeface="仿宋" panose="02010609060101010101" charset="-122"/>
                  <a:ea typeface="仿宋" panose="02010609060101010101" charset="-122"/>
                </a:rPr>
                <a:t>精准查找</a:t>
              </a:r>
              <a:endParaRPr lang="zh-CN" altLang="en-US" sz="40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3320" y="8368"/>
              <a:ext cx="5004" cy="17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hash 1 XXXX 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第</a:t>
              </a:r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X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个第</a:t>
              </a:r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X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号扇区</a:t>
              </a:r>
              <a:endPara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  <a:p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hash 2 XXXX 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第</a:t>
              </a:r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X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个第</a:t>
              </a:r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X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号扇区</a:t>
              </a:r>
              <a:endPara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  <a:p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hash 3 XXXX 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第</a:t>
              </a:r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X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个第</a:t>
              </a:r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X</a:t>
              </a:r>
              <a:r>
                <a:rPr lang="zh-CN" altLang="en-US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号扇区</a:t>
              </a:r>
              <a:endPara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endParaRPr>
            </a:p>
            <a:p>
              <a:r>
                <a:rPr lang="en-US" altLang="zh-CN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+mn-ea"/>
                </a:rPr>
                <a:t>······</a:t>
              </a:r>
              <a:endPara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  <a:p>
              <a:endParaRPr lang="zh-CN" altLang="en-US"/>
            </a:p>
          </p:txBody>
        </p:sp>
        <p:sp>
          <p:nvSpPr>
            <p:cNvPr id="25" name="线形标注 2(带边框和强调线) 24"/>
            <p:cNvSpPr/>
            <p:nvPr/>
          </p:nvSpPr>
          <p:spPr>
            <a:xfrm>
              <a:off x="13072" y="8369"/>
              <a:ext cx="5253" cy="1749"/>
            </a:xfrm>
            <a:prstGeom prst="accentBorderCallout2">
              <a:avLst>
                <a:gd name="adj1" fmla="val 83278"/>
                <a:gd name="adj2" fmla="val -8356"/>
                <a:gd name="adj3" fmla="val 83278"/>
                <a:gd name="adj4" fmla="val -70448"/>
                <a:gd name="adj5" fmla="val 22738"/>
                <a:gd name="adj6" fmla="val -967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颠覆你的认知：内核即是编译器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通过内核的能力令牌验证，内核能返回许多不合法的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C/C++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等不合法的错误，实现安全的编译环境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368425" y="3046730"/>
            <a:ext cx="9455150" cy="3014980"/>
            <a:chOff x="1320" y="4799"/>
            <a:chExt cx="14890" cy="4748"/>
          </a:xfrm>
        </p:grpSpPr>
        <p:sp>
          <p:nvSpPr>
            <p:cNvPr id="4" name="矩形 3"/>
            <p:cNvSpPr/>
            <p:nvPr/>
          </p:nvSpPr>
          <p:spPr>
            <a:xfrm>
              <a:off x="1320" y="4799"/>
              <a:ext cx="2641" cy="47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963" y="5655"/>
              <a:ext cx="1354" cy="30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4400">
                  <a:latin typeface="仿宋" panose="02010609060101010101" charset="-122"/>
                  <a:ea typeface="仿宋" panose="02010609060101010101" charset="-122"/>
                </a:rPr>
                <a:t>编译器</a:t>
              </a:r>
              <a:endParaRPr lang="zh-CN" altLang="en-US" sz="44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6" name="燕尾形箭头 5"/>
            <p:cNvSpPr/>
            <p:nvPr/>
          </p:nvSpPr>
          <p:spPr>
            <a:xfrm>
              <a:off x="4374" y="6233"/>
              <a:ext cx="2365" cy="1879"/>
            </a:xfrm>
            <a:prstGeom prst="notched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152" y="4799"/>
              <a:ext cx="2641" cy="47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96" y="6086"/>
              <a:ext cx="1354" cy="21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sz="4400">
                  <a:latin typeface="仿宋" panose="02010609060101010101" charset="-122"/>
                  <a:ea typeface="仿宋" panose="02010609060101010101" charset="-122"/>
                </a:rPr>
                <a:t>内核</a:t>
              </a:r>
              <a:endParaRPr lang="zh-CN" altLang="en-US" sz="44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9" name="燕尾形箭头 8"/>
            <p:cNvSpPr/>
            <p:nvPr/>
          </p:nvSpPr>
          <p:spPr>
            <a:xfrm>
              <a:off x="10207" y="4974"/>
              <a:ext cx="2365" cy="1879"/>
            </a:xfrm>
            <a:prstGeom prst="notched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燕尾形箭头 9"/>
            <p:cNvSpPr/>
            <p:nvPr/>
          </p:nvSpPr>
          <p:spPr>
            <a:xfrm>
              <a:off x="10206" y="7373"/>
              <a:ext cx="2365" cy="1879"/>
            </a:xfrm>
            <a:prstGeom prst="notched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676" y="5503"/>
              <a:ext cx="14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latin typeface="仿宋" panose="02010609060101010101" charset="-122"/>
                  <a:ea typeface="仿宋" panose="02010609060101010101" charset="-122"/>
                </a:rPr>
                <a:t>合法</a:t>
              </a:r>
              <a:endParaRPr lang="zh-CN" altLang="en-US" sz="28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562" y="7868"/>
              <a:ext cx="200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latin typeface="仿宋" panose="02010609060101010101" charset="-122"/>
                  <a:ea typeface="仿宋" panose="02010609060101010101" charset="-122"/>
                </a:rPr>
                <a:t>不合法</a:t>
              </a:r>
              <a:endParaRPr lang="zh-CN" altLang="en-US" sz="28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2985" y="7519"/>
              <a:ext cx="3224" cy="17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3147" y="7868"/>
              <a:ext cx="288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仿宋" panose="02010609060101010101" charset="-122"/>
                  <a:ea typeface="仿宋" panose="02010609060101010101" charset="-122"/>
                </a:rPr>
                <a:t>返回错误</a:t>
              </a:r>
              <a:endParaRPr lang="zh-CN" altLang="en-US" sz="32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2984" y="4974"/>
              <a:ext cx="3224" cy="17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986" y="5187"/>
              <a:ext cx="322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latin typeface="仿宋" panose="02010609060101010101" charset="-122"/>
                  <a:ea typeface="仿宋" panose="02010609060101010101" charset="-122"/>
                </a:rPr>
                <a:t>允许访问，</a:t>
              </a:r>
              <a:endParaRPr lang="zh-CN" altLang="en-US" sz="2400">
                <a:latin typeface="仿宋" panose="02010609060101010101" charset="-122"/>
                <a:ea typeface="仿宋" panose="02010609060101010101" charset="-122"/>
              </a:endParaRPr>
            </a:p>
            <a:p>
              <a:r>
                <a:rPr lang="zh-CN" altLang="en-US" sz="2400">
                  <a:latin typeface="仿宋" panose="02010609060101010101" charset="-122"/>
                  <a:ea typeface="仿宋" panose="02010609060101010101" charset="-122"/>
                </a:rPr>
                <a:t>创建初始令牌</a:t>
              </a:r>
              <a:endParaRPr lang="zh-CN" altLang="en-US" sz="2400"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730" y="6707"/>
              <a:ext cx="186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600">
                  <a:latin typeface="仿宋" panose="02010609060101010101" charset="-122"/>
                  <a:ea typeface="仿宋" panose="02010609060101010101" charset="-122"/>
                </a:rPr>
                <a:t>运行</a:t>
              </a:r>
              <a:endParaRPr lang="zh-CN" altLang="en-US" sz="3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颠覆你的认知：桌面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废除传统菜单，设立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 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智能交互栏：</a:t>
            </a:r>
            <a:endParaRPr lang="zh-CN" altLang="en-US" sz="222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是本系统的主要交互入口，替代传统开始菜单。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是一个悬浮式智能交互栏，用户通过输入即所得的方式访问应用、数据和系统功能。</a:t>
            </a:r>
            <a:endParaRPr lang="zh-CN" altLang="en-US" sz="222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用户将鼠标移动到屏幕顶部边缘，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从屏幕顶部滑入，动画时长约50毫秒。用户也可按下系统键直接唤出。用户操作完成后，鼠标移出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区域或按下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Esc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键，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自动隐藏。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的唤出和隐藏不改变当前桌面状态，不影响正在进行的工作。</a:t>
            </a:r>
            <a:endParaRPr lang="zh-CN" altLang="en-US" sz="222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直接与键值对象存储服务、能力授权引擎、桌面核心服务通信。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能搜索所有用户持有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ObjectToken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的数据，显示当前运行程序的令牌持有状态，执行窗口管理操作。用户无需打开任何菜单或设置面板，通过</a:t>
            </a:r>
            <a:r>
              <a:rPr lang="en-US" altLang="zh-CN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OmniBar</a:t>
            </a:r>
            <a:r>
              <a:rPr lang="zh-CN" altLang="en-US" sz="222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即可完成绝大多数系统操作。</a:t>
            </a:r>
            <a:endParaRPr lang="zh-CN" altLang="en-US" sz="222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为了民用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8685" y="1513205"/>
            <a:ext cx="10515600" cy="4351655"/>
          </a:xfrm>
        </p:spPr>
        <p:txBody>
          <a:bodyPr>
            <a:normAutofit fontScale="90000" lnSpcReduction="10000"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我们的新型操作系统是能够打破微软，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Linux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垄断的一种新型操作系统，无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POSIX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，无系统调用，废除了大量的开销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这不仅是民用新型操作系统，更是真正自主的国产操作系统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我们的新型架构已在实机验证，能够在裸机下进行令牌验证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我们不断优化操作系统，开机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秒，关机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秒，更新采用原子替代，永不强制重启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我们的操作系统兼容旧数据格式：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NTFS / FAT32 / EXT4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可导入键值存储，不丢失用户数据，我们只做文件格式转换为键值存储，我们随着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WASI/WASM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的发展加入我们的操作系统，通过 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WASI/WASM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兼容海量应用生态，任何能编译到 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WASI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的程序都能原生运行。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en-US" altLang="zh-CN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安全与性能水平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2460"/>
          </a:xfrm>
        </p:spPr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经过理论验证，我们的操作系统基于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Rust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语言的内存安全保证，核心机制无内存安全类漏洞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，但难免会存在开发时的逻辑错误。所有用户态服务的崩溃不影响内核，看护服务可自动恢复。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我们的操作系统是跨时代的操作系统，能力令牌机制使攻击面极小，防篡改校验由 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SHA-256/SHA-3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保障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，系统默认不开启网络服务，无网络攻击面。即使开启网络服务，其作为独立用户态服务运行，崩溃或被攻击不影响内核。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我们的新型操作系统性能设计目标接近裸机性能。已在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QEMU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与实机环境中完成内核启动、令牌验证、上下文切换基础验证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中，关键路径开销低于5%，整体性能达到95%以上。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我们的理念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34" name="组合 33"/>
          <p:cNvGrpSpPr/>
          <p:nvPr>
            <p:custDataLst>
              <p:tags r:id="rId1"/>
            </p:custDataLst>
          </p:nvPr>
        </p:nvGrpSpPr>
        <p:grpSpPr>
          <a:xfrm>
            <a:off x="897255" y="1701165"/>
            <a:ext cx="10373360" cy="4181475"/>
            <a:chOff x="1413" y="2679"/>
            <a:chExt cx="16336" cy="6585"/>
          </a:xfrm>
        </p:grpSpPr>
        <p:sp>
          <p:nvSpPr>
            <p:cNvPr id="18" name="任意多边形: 形状 17"/>
            <p:cNvSpPr/>
            <p:nvPr>
              <p:custDataLst>
                <p:tags r:id="rId2"/>
              </p:custDataLst>
            </p:nvPr>
          </p:nvSpPr>
          <p:spPr>
            <a:xfrm>
              <a:off x="1634" y="6026"/>
              <a:ext cx="15895" cy="3238"/>
            </a:xfrm>
            <a:custGeom>
              <a:avLst/>
              <a:gdLst>
                <a:gd name="connsiteX0" fmla="*/ 4924244 w 9848488"/>
                <a:gd name="connsiteY0" fmla="*/ 0 h 2006368"/>
                <a:gd name="connsiteX1" fmla="*/ 9775437 w 9848488"/>
                <a:gd name="connsiteY1" fmla="*/ 1858432 h 2006368"/>
                <a:gd name="connsiteX2" fmla="*/ 9848488 w 9848488"/>
                <a:gd name="connsiteY2" fmla="*/ 2006368 h 2006368"/>
                <a:gd name="connsiteX3" fmla="*/ 0 w 9848488"/>
                <a:gd name="connsiteY3" fmla="*/ 2006368 h 2006368"/>
                <a:gd name="connsiteX4" fmla="*/ 73051 w 9848488"/>
                <a:gd name="connsiteY4" fmla="*/ 1858432 h 2006368"/>
                <a:gd name="connsiteX5" fmla="*/ 4924244 w 9848488"/>
                <a:gd name="connsiteY5" fmla="*/ 0 h 2006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48488" h="2006368">
                  <a:moveTo>
                    <a:pt x="4924244" y="0"/>
                  </a:moveTo>
                  <a:cubicBezTo>
                    <a:pt x="7203603" y="0"/>
                    <a:pt x="9132307" y="781751"/>
                    <a:pt x="9775437" y="1858432"/>
                  </a:cubicBezTo>
                  <a:lnTo>
                    <a:pt x="9848488" y="2006368"/>
                  </a:lnTo>
                  <a:lnTo>
                    <a:pt x="0" y="2006368"/>
                  </a:lnTo>
                  <a:lnTo>
                    <a:pt x="73051" y="1858432"/>
                  </a:lnTo>
                  <a:cubicBezTo>
                    <a:pt x="716182" y="781751"/>
                    <a:pt x="2644886" y="0"/>
                    <a:pt x="4924244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1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gradFill>
                <a:gsLst>
                  <a:gs pos="0">
                    <a:schemeClr val="accent1">
                      <a:alpha val="100000"/>
                    </a:schemeClr>
                  </a:gs>
                  <a:gs pos="87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" name="任意多边形: 形状 4"/>
            <p:cNvSpPr/>
            <p:nvPr>
              <p:custDataLst>
                <p:tags r:id="rId3"/>
              </p:custDataLst>
            </p:nvPr>
          </p:nvSpPr>
          <p:spPr>
            <a:xfrm>
              <a:off x="8970" y="8132"/>
              <a:ext cx="1305" cy="660"/>
            </a:xfrm>
            <a:custGeom>
              <a:avLst/>
              <a:gdLst>
                <a:gd name="connsiteX0" fmla="*/ 1450658 w 1450657"/>
                <a:gd name="connsiteY0" fmla="*/ 523875 h 734377"/>
                <a:gd name="connsiteX1" fmla="*/ 161925 w 1450657"/>
                <a:gd name="connsiteY1" fmla="*/ 734377 h 734377"/>
                <a:gd name="connsiteX2" fmla="*/ 0 w 1450657"/>
                <a:gd name="connsiteY2" fmla="*/ 0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0657" h="734377">
                  <a:moveTo>
                    <a:pt x="1450658" y="523875"/>
                  </a:moveTo>
                  <a:lnTo>
                    <a:pt x="161925" y="73437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">
                  <a:schemeClr val="accent1">
                    <a:lumMod val="78000"/>
                    <a:lumOff val="22000"/>
                    <a:alpha val="100000"/>
                  </a:schemeClr>
                </a:gs>
                <a:gs pos="78000">
                  <a:schemeClr val="accent1">
                    <a:lumMod val="91000"/>
                    <a:alpha val="100000"/>
                  </a:schemeClr>
                </a:gs>
              </a:gsLst>
              <a:lin ang="16200000" scaled="0"/>
            </a:gradFill>
            <a:ln w="483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/>
            <p:cNvSpPr/>
            <p:nvPr>
              <p:custDataLst>
                <p:tags r:id="rId4"/>
              </p:custDataLst>
            </p:nvPr>
          </p:nvSpPr>
          <p:spPr>
            <a:xfrm>
              <a:off x="8261" y="7692"/>
              <a:ext cx="855" cy="1100"/>
            </a:xfrm>
            <a:custGeom>
              <a:avLst/>
              <a:gdLst>
                <a:gd name="connsiteX0" fmla="*/ 0 w 950595"/>
                <a:gd name="connsiteY0" fmla="*/ 0 h 1223009"/>
                <a:gd name="connsiteX1" fmla="*/ 788670 w 950595"/>
                <a:gd name="connsiteY1" fmla="*/ 488633 h 1223009"/>
                <a:gd name="connsiteX2" fmla="*/ 950595 w 950595"/>
                <a:gd name="connsiteY2" fmla="*/ 1223010 h 122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0595" h="1223009">
                  <a:moveTo>
                    <a:pt x="0" y="0"/>
                  </a:moveTo>
                  <a:lnTo>
                    <a:pt x="788670" y="488633"/>
                  </a:lnTo>
                  <a:lnTo>
                    <a:pt x="950595" y="1223010"/>
                  </a:lnTo>
                  <a:close/>
                </a:path>
              </a:pathLst>
            </a:custGeom>
            <a:gradFill>
              <a:gsLst>
                <a:gs pos="19000">
                  <a:schemeClr val="accent1">
                    <a:lumMod val="60000"/>
                    <a:lumOff val="40000"/>
                    <a:alpha val="100000"/>
                  </a:schemeClr>
                </a:gs>
                <a:gs pos="92000">
                  <a:schemeClr val="accent1">
                    <a:alpha val="100000"/>
                  </a:schemeClr>
                </a:gs>
              </a:gsLst>
              <a:lin ang="0" scaled="0"/>
            </a:gradFill>
            <a:ln w="483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/>
            <p:cNvSpPr/>
            <p:nvPr>
              <p:custDataLst>
                <p:tags r:id="rId5"/>
              </p:custDataLst>
            </p:nvPr>
          </p:nvSpPr>
          <p:spPr>
            <a:xfrm>
              <a:off x="8261" y="6673"/>
              <a:ext cx="709" cy="1458"/>
            </a:xfrm>
            <a:custGeom>
              <a:avLst/>
              <a:gdLst>
                <a:gd name="connsiteX0" fmla="*/ 0 w 788670"/>
                <a:gd name="connsiteY0" fmla="*/ 1132523 h 1621155"/>
                <a:gd name="connsiteX1" fmla="*/ 619125 w 788670"/>
                <a:gd name="connsiteY1" fmla="*/ 0 h 1621155"/>
                <a:gd name="connsiteX2" fmla="*/ 788670 w 788670"/>
                <a:gd name="connsiteY2" fmla="*/ 1621155 h 16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8670" h="1621155">
                  <a:moveTo>
                    <a:pt x="0" y="1132523"/>
                  </a:moveTo>
                  <a:lnTo>
                    <a:pt x="619125" y="0"/>
                  </a:lnTo>
                  <a:lnTo>
                    <a:pt x="788670" y="162115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  <a:lumOff val="50000"/>
                    <a:alpha val="100000"/>
                  </a:schemeClr>
                </a:gs>
                <a:gs pos="100000">
                  <a:schemeClr val="accent1">
                    <a:lumMod val="86000"/>
                    <a:lumOff val="14000"/>
                    <a:alpha val="100000"/>
                  </a:schemeClr>
                </a:gs>
              </a:gsLst>
              <a:lin ang="600000" scaled="0"/>
            </a:gradFill>
            <a:ln w="48331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任意多边形: 形状 7"/>
            <p:cNvSpPr/>
            <p:nvPr>
              <p:custDataLst>
                <p:tags r:id="rId6"/>
              </p:custDataLst>
            </p:nvPr>
          </p:nvSpPr>
          <p:spPr>
            <a:xfrm>
              <a:off x="8970" y="7210"/>
              <a:ext cx="1305" cy="1392"/>
            </a:xfrm>
            <a:custGeom>
              <a:avLst/>
              <a:gdLst>
                <a:gd name="connsiteX0" fmla="*/ 1385888 w 1450657"/>
                <a:gd name="connsiteY0" fmla="*/ 0 h 1547812"/>
                <a:gd name="connsiteX1" fmla="*/ 1450658 w 1450657"/>
                <a:gd name="connsiteY1" fmla="*/ 1547812 h 1547812"/>
                <a:gd name="connsiteX2" fmla="*/ 0 w 1450657"/>
                <a:gd name="connsiteY2" fmla="*/ 1023938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0657" h="1547812">
                  <a:moveTo>
                    <a:pt x="1385888" y="0"/>
                  </a:moveTo>
                  <a:lnTo>
                    <a:pt x="1450658" y="1547812"/>
                  </a:lnTo>
                  <a:lnTo>
                    <a:pt x="0" y="1023938"/>
                  </a:lnTo>
                  <a:close/>
                </a:path>
              </a:pathLst>
            </a:custGeom>
            <a:gradFill flip="none" rotWithShape="1">
              <a:gsLst>
                <a:gs pos="36000">
                  <a:schemeClr val="accent1">
                    <a:lumMod val="75000"/>
                    <a:alpha val="100000"/>
                  </a:schemeClr>
                </a:gs>
                <a:gs pos="100000">
                  <a:schemeClr val="accent1">
                    <a:lumMod val="70000"/>
                    <a:lumOff val="30000"/>
                    <a:alpha val="100000"/>
                  </a:schemeClr>
                </a:gs>
              </a:gsLst>
              <a:lin ang="1800000" scaled="0"/>
              <a:tileRect/>
            </a:gradFill>
            <a:ln w="48331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任意多边形: 形状 9"/>
            <p:cNvSpPr/>
            <p:nvPr>
              <p:custDataLst>
                <p:tags r:id="rId7"/>
              </p:custDataLst>
            </p:nvPr>
          </p:nvSpPr>
          <p:spPr>
            <a:xfrm>
              <a:off x="10082" y="6338"/>
              <a:ext cx="829" cy="1134"/>
            </a:xfrm>
            <a:custGeom>
              <a:avLst/>
              <a:gdLst>
                <a:gd name="connsiteX0" fmla="*/ 149542 w 922019"/>
                <a:gd name="connsiteY0" fmla="*/ 969645 h 1261109"/>
                <a:gd name="connsiteX1" fmla="*/ 0 w 922019"/>
                <a:gd name="connsiteY1" fmla="*/ 0 h 1261109"/>
                <a:gd name="connsiteX2" fmla="*/ 922020 w 922019"/>
                <a:gd name="connsiteY2" fmla="*/ 1261110 h 1261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2019" h="1261109">
                  <a:moveTo>
                    <a:pt x="149542" y="969645"/>
                  </a:moveTo>
                  <a:lnTo>
                    <a:pt x="0" y="0"/>
                  </a:lnTo>
                  <a:lnTo>
                    <a:pt x="922020" y="1261110"/>
                  </a:lnTo>
                  <a:close/>
                </a:path>
              </a:pathLst>
            </a:custGeom>
            <a:gradFill>
              <a:gsLst>
                <a:gs pos="1000">
                  <a:schemeClr val="accent1">
                    <a:lumMod val="60000"/>
                    <a:lumOff val="40000"/>
                    <a:alpha val="100000"/>
                  </a:schemeClr>
                </a:gs>
                <a:gs pos="92000">
                  <a:schemeClr val="accent1">
                    <a:alpha val="100000"/>
                  </a:schemeClr>
                </a:gs>
              </a:gsLst>
              <a:lin ang="9600000" scaled="0"/>
            </a:gradFill>
            <a:ln w="48331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任意多边形: 形状 10"/>
            <p:cNvSpPr/>
            <p:nvPr>
              <p:custDataLst>
                <p:tags r:id="rId8"/>
              </p:custDataLst>
            </p:nvPr>
          </p:nvSpPr>
          <p:spPr>
            <a:xfrm>
              <a:off x="10216" y="7210"/>
              <a:ext cx="695" cy="1392"/>
            </a:xfrm>
            <a:custGeom>
              <a:avLst/>
              <a:gdLst>
                <a:gd name="connsiteX0" fmla="*/ 0 w 772477"/>
                <a:gd name="connsiteY0" fmla="*/ 0 h 1547812"/>
                <a:gd name="connsiteX1" fmla="*/ 772477 w 772477"/>
                <a:gd name="connsiteY1" fmla="*/ 291465 h 1547812"/>
                <a:gd name="connsiteX2" fmla="*/ 64770 w 772477"/>
                <a:gd name="connsiteY2" fmla="*/ 1547812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2477" h="1547812">
                  <a:moveTo>
                    <a:pt x="0" y="0"/>
                  </a:moveTo>
                  <a:lnTo>
                    <a:pt x="772477" y="291465"/>
                  </a:lnTo>
                  <a:lnTo>
                    <a:pt x="64770" y="1547812"/>
                  </a:lnTo>
                  <a:close/>
                </a:path>
              </a:pathLst>
            </a:custGeom>
            <a:gradFill>
              <a:gsLst>
                <a:gs pos="28000">
                  <a:schemeClr val="accent1">
                    <a:lumMod val="75000"/>
                    <a:alpha val="100000"/>
                  </a:schemeClr>
                </a:gs>
                <a:gs pos="100000">
                  <a:schemeClr val="accent1">
                    <a:lumMod val="70000"/>
                    <a:lumOff val="30000"/>
                    <a:alpha val="100000"/>
                  </a:schemeClr>
                </a:gs>
              </a:gsLst>
              <a:lin ang="21594000" scaled="0"/>
            </a:gradFill>
            <a:ln w="48331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任意多边形: 形状 11"/>
            <p:cNvSpPr/>
            <p:nvPr>
              <p:custDataLst>
                <p:tags r:id="rId9"/>
              </p:custDataLst>
            </p:nvPr>
          </p:nvSpPr>
          <p:spPr>
            <a:xfrm>
              <a:off x="8817" y="6338"/>
              <a:ext cx="1399" cy="872"/>
            </a:xfrm>
            <a:custGeom>
              <a:avLst/>
              <a:gdLst>
                <a:gd name="connsiteX0" fmla="*/ 0 w 1555432"/>
                <a:gd name="connsiteY0" fmla="*/ 372428 h 969645"/>
                <a:gd name="connsiteX1" fmla="*/ 1405890 w 1555432"/>
                <a:gd name="connsiteY1" fmla="*/ 0 h 969645"/>
                <a:gd name="connsiteX2" fmla="*/ 1555433 w 1555432"/>
                <a:gd name="connsiteY2" fmla="*/ 969645 h 96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432" h="969645">
                  <a:moveTo>
                    <a:pt x="0" y="372428"/>
                  </a:moveTo>
                  <a:lnTo>
                    <a:pt x="1405890" y="0"/>
                  </a:lnTo>
                  <a:lnTo>
                    <a:pt x="1555433" y="96964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5000"/>
                    <a:lumOff val="4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7200000" scaled="0"/>
              <a:tileRect/>
            </a:gradFill>
            <a:ln w="48331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任意多边形: 形状 12"/>
            <p:cNvSpPr/>
            <p:nvPr>
              <p:custDataLst>
                <p:tags r:id="rId10"/>
              </p:custDataLst>
            </p:nvPr>
          </p:nvSpPr>
          <p:spPr>
            <a:xfrm>
              <a:off x="8817" y="6673"/>
              <a:ext cx="1399" cy="1458"/>
            </a:xfrm>
            <a:custGeom>
              <a:avLst/>
              <a:gdLst>
                <a:gd name="connsiteX0" fmla="*/ 0 w 1555432"/>
                <a:gd name="connsiteY0" fmla="*/ 0 h 1621155"/>
                <a:gd name="connsiteX1" fmla="*/ 1555433 w 1555432"/>
                <a:gd name="connsiteY1" fmla="*/ 597218 h 1621155"/>
                <a:gd name="connsiteX2" fmla="*/ 169545 w 1555432"/>
                <a:gd name="connsiteY2" fmla="*/ 1621155 h 16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432" h="1621155">
                  <a:moveTo>
                    <a:pt x="0" y="0"/>
                  </a:moveTo>
                  <a:lnTo>
                    <a:pt x="1555433" y="597218"/>
                  </a:lnTo>
                  <a:lnTo>
                    <a:pt x="169545" y="162115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36000"/>
                    <a:lumOff val="64000"/>
                    <a:alpha val="100000"/>
                  </a:schemeClr>
                </a:gs>
                <a:gs pos="100000">
                  <a:schemeClr val="accent1">
                    <a:lumMod val="77000"/>
                    <a:lumOff val="23000"/>
                    <a:alpha val="100000"/>
                  </a:schemeClr>
                </a:gs>
              </a:gsLst>
              <a:lin ang="2700000" scaled="1"/>
              <a:tileRect/>
            </a:gradFill>
            <a:ln w="48331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>
              <p:custDataLst>
                <p:tags r:id="rId11"/>
              </p:custDataLst>
            </p:nvPr>
          </p:nvSpPr>
          <p:spPr>
            <a:xfrm rot="20464926">
              <a:off x="7365" y="7167"/>
              <a:ext cx="4564" cy="954"/>
            </a:xfrm>
            <a:prstGeom prst="ellipse">
              <a:avLst/>
            </a:prstGeom>
            <a:noFill/>
            <a:ln w="9525">
              <a:gradFill flip="none" rotWithShape="1"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12"/>
              </p:custDataLst>
            </p:nvPr>
          </p:nvSpPr>
          <p:spPr>
            <a:xfrm rot="997938">
              <a:off x="7544" y="7167"/>
              <a:ext cx="4207" cy="954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3"/>
              </p:custDataLst>
            </p:nvPr>
          </p:nvSpPr>
          <p:spPr>
            <a:xfrm rot="19668910">
              <a:off x="7235" y="7167"/>
              <a:ext cx="4564" cy="954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1000">
                    <a:schemeClr val="accent1">
                      <a:lumMod val="60000"/>
                      <a:lumOff val="40000"/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4"/>
              </p:custDataLst>
            </p:nvPr>
          </p:nvSpPr>
          <p:spPr>
            <a:xfrm>
              <a:off x="10984" y="7466"/>
              <a:ext cx="178" cy="178"/>
            </a:xfrm>
            <a:prstGeom prst="ellipse">
              <a:avLst/>
            </a:prstGeom>
            <a:gradFill>
              <a:gsLst>
                <a:gs pos="1000">
                  <a:schemeClr val="accent1">
                    <a:lumMod val="7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5"/>
              </p:custDataLst>
            </p:nvPr>
          </p:nvSpPr>
          <p:spPr>
            <a:xfrm>
              <a:off x="9970" y="8135"/>
              <a:ext cx="178" cy="178"/>
            </a:xfrm>
            <a:prstGeom prst="ellipse">
              <a:avLst/>
            </a:prstGeom>
            <a:gradFill flip="none" rotWithShape="1">
              <a:gsLst>
                <a:gs pos="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16"/>
              </p:custDataLst>
            </p:nvPr>
          </p:nvSpPr>
          <p:spPr>
            <a:xfrm>
              <a:off x="1413" y="5676"/>
              <a:ext cx="16337" cy="3238"/>
            </a:xfrm>
            <a:custGeom>
              <a:avLst/>
              <a:gdLst>
                <a:gd name="connsiteX0" fmla="*/ 4924244 w 9848488"/>
                <a:gd name="connsiteY0" fmla="*/ 0 h 2006368"/>
                <a:gd name="connsiteX1" fmla="*/ 9775437 w 9848488"/>
                <a:gd name="connsiteY1" fmla="*/ 1858432 h 2006368"/>
                <a:gd name="connsiteX2" fmla="*/ 9848488 w 9848488"/>
                <a:gd name="connsiteY2" fmla="*/ 2006368 h 2006368"/>
                <a:gd name="connsiteX3" fmla="*/ 0 w 9848488"/>
                <a:gd name="connsiteY3" fmla="*/ 2006368 h 2006368"/>
                <a:gd name="connsiteX4" fmla="*/ 73051 w 9848488"/>
                <a:gd name="connsiteY4" fmla="*/ 1858432 h 2006368"/>
                <a:gd name="connsiteX5" fmla="*/ 4924244 w 9848488"/>
                <a:gd name="connsiteY5" fmla="*/ 0 h 2006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48488" h="2006368">
                  <a:moveTo>
                    <a:pt x="4924244" y="0"/>
                  </a:moveTo>
                  <a:cubicBezTo>
                    <a:pt x="7203603" y="0"/>
                    <a:pt x="9132307" y="781751"/>
                    <a:pt x="9775437" y="1858432"/>
                  </a:cubicBezTo>
                  <a:lnTo>
                    <a:pt x="9848488" y="2006368"/>
                  </a:lnTo>
                  <a:lnTo>
                    <a:pt x="0" y="2006368"/>
                  </a:lnTo>
                  <a:lnTo>
                    <a:pt x="73051" y="1858432"/>
                  </a:lnTo>
                  <a:cubicBezTo>
                    <a:pt x="716182" y="781751"/>
                    <a:pt x="2644886" y="0"/>
                    <a:pt x="4924244" y="0"/>
                  </a:cubicBezTo>
                  <a:close/>
                </a:path>
              </a:pathLst>
            </a:custGeom>
            <a:noFill/>
            <a:ln w="15875">
              <a:gradFill>
                <a:gsLst>
                  <a:gs pos="0">
                    <a:schemeClr val="accent1">
                      <a:lumMod val="40000"/>
                      <a:lumOff val="60000"/>
                      <a:alpha val="100000"/>
                    </a:schemeClr>
                  </a:gs>
                  <a:gs pos="92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17"/>
              </p:custDataLst>
            </p:nvPr>
          </p:nvSpPr>
          <p:spPr>
            <a:xfrm>
              <a:off x="2694" y="7275"/>
              <a:ext cx="236" cy="2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chemeClr val="accent1"/>
              </a:solidFill>
            </a:ln>
            <a:effectLst>
              <a:outerShdw blurRad="63500" sx="102000" sy="102000" algn="ctr" rotWithShape="0">
                <a:schemeClr val="accent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18"/>
              </p:custDataLst>
            </p:nvPr>
          </p:nvSpPr>
          <p:spPr>
            <a:xfrm>
              <a:off x="2739" y="7320"/>
              <a:ext cx="146" cy="146"/>
            </a:xfrm>
            <a:prstGeom prst="ellipse">
              <a:avLst/>
            </a:prstGeom>
            <a:gradFill>
              <a:gsLst>
                <a:gs pos="1000">
                  <a:schemeClr val="accent1">
                    <a:lumMod val="7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19"/>
              </p:custDataLst>
            </p:nvPr>
          </p:nvSpPr>
          <p:spPr>
            <a:xfrm>
              <a:off x="1685" y="5190"/>
              <a:ext cx="2255" cy="113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为民用打造的新型操作系统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20"/>
              </p:custDataLst>
            </p:nvPr>
          </p:nvSpPr>
          <p:spPr>
            <a:xfrm>
              <a:off x="1685" y="4402"/>
              <a:ext cx="2255" cy="5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民用</a:t>
              </a:r>
              <a:endPara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37" name="直接连接符 36"/>
            <p:cNvCxnSpPr/>
            <p:nvPr>
              <p:custDataLst>
                <p:tags r:id="rId21"/>
              </p:custDataLst>
            </p:nvPr>
          </p:nvCxnSpPr>
          <p:spPr>
            <a:xfrm flipV="1">
              <a:off x="2814" y="6227"/>
              <a:ext cx="0" cy="1048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162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9" name="椭圆 68"/>
            <p:cNvSpPr/>
            <p:nvPr>
              <p:custDataLst>
                <p:tags r:id="rId22"/>
              </p:custDataLst>
            </p:nvPr>
          </p:nvSpPr>
          <p:spPr>
            <a:xfrm>
              <a:off x="16234" y="7275"/>
              <a:ext cx="236" cy="2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chemeClr val="accent2"/>
              </a:solidFill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0" name="椭圆 69"/>
            <p:cNvSpPr/>
            <p:nvPr>
              <p:custDataLst>
                <p:tags r:id="rId23"/>
              </p:custDataLst>
            </p:nvPr>
          </p:nvSpPr>
          <p:spPr>
            <a:xfrm>
              <a:off x="16279" y="7320"/>
              <a:ext cx="146" cy="146"/>
            </a:xfrm>
            <a:prstGeom prst="ellipse">
              <a:avLst/>
            </a:prstGeom>
            <a:gradFill>
              <a:gsLst>
                <a:gs pos="1000">
                  <a:schemeClr val="accent2">
                    <a:lumMod val="75000"/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24"/>
              </p:custDataLst>
            </p:nvPr>
          </p:nvSpPr>
          <p:spPr>
            <a:xfrm>
              <a:off x="15225" y="5190"/>
              <a:ext cx="2255" cy="113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放弃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POSIX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，实现真正的自主研发</a:t>
              </a:r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25"/>
              </p:custDataLst>
            </p:nvPr>
          </p:nvSpPr>
          <p:spPr>
            <a:xfrm>
              <a:off x="15225" y="4402"/>
              <a:ext cx="2255" cy="5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chemeClr val="accent2"/>
                  </a:solidFill>
                  <a:latin typeface="+mn-ea"/>
                  <a:cs typeface="+mn-ea"/>
                  <a:sym typeface="+mn-ea"/>
                </a:rPr>
                <a:t>真正自主</a:t>
              </a:r>
              <a:endPara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61" name="直接连接符 60"/>
            <p:cNvCxnSpPr/>
            <p:nvPr>
              <p:custDataLst>
                <p:tags r:id="rId26"/>
              </p:custDataLst>
            </p:nvPr>
          </p:nvCxnSpPr>
          <p:spPr>
            <a:xfrm flipV="1">
              <a:off x="16354" y="6227"/>
              <a:ext cx="0" cy="1048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162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6" name="椭圆 85"/>
            <p:cNvSpPr/>
            <p:nvPr>
              <p:custDataLst>
                <p:tags r:id="rId27"/>
              </p:custDataLst>
            </p:nvPr>
          </p:nvSpPr>
          <p:spPr>
            <a:xfrm>
              <a:off x="5402" y="6063"/>
              <a:ext cx="236" cy="2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chemeClr val="accent2"/>
              </a:solidFill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87" name="椭圆 86"/>
            <p:cNvSpPr/>
            <p:nvPr>
              <p:custDataLst>
                <p:tags r:id="rId28"/>
              </p:custDataLst>
            </p:nvPr>
          </p:nvSpPr>
          <p:spPr>
            <a:xfrm>
              <a:off x="5447" y="6109"/>
              <a:ext cx="146" cy="146"/>
            </a:xfrm>
            <a:prstGeom prst="ellipse">
              <a:avLst/>
            </a:prstGeom>
            <a:gradFill>
              <a:gsLst>
                <a:gs pos="1000">
                  <a:schemeClr val="accent2">
                    <a:lumMod val="75000"/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9"/>
              </p:custDataLst>
            </p:nvPr>
          </p:nvSpPr>
          <p:spPr>
            <a:xfrm>
              <a:off x="4392" y="3979"/>
              <a:ext cx="2255" cy="113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没有漏洞，安全至上</a:t>
              </a:r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30"/>
              </p:custDataLst>
            </p:nvPr>
          </p:nvSpPr>
          <p:spPr>
            <a:xfrm>
              <a:off x="4392" y="3190"/>
              <a:ext cx="2255" cy="5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chemeClr val="accent2"/>
                  </a:solidFill>
                  <a:latin typeface="+mn-ea"/>
                  <a:cs typeface="+mn-ea"/>
                  <a:sym typeface="+mn-ea"/>
                </a:rPr>
                <a:t>安全</a:t>
              </a:r>
              <a:endPara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83" name="直接连接符 82"/>
            <p:cNvCxnSpPr/>
            <p:nvPr>
              <p:custDataLst>
                <p:tags r:id="rId31"/>
              </p:custDataLst>
            </p:nvPr>
          </p:nvCxnSpPr>
          <p:spPr>
            <a:xfrm flipV="1">
              <a:off x="5522" y="5016"/>
              <a:ext cx="0" cy="1048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162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4" name="椭圆 93"/>
            <p:cNvSpPr/>
            <p:nvPr>
              <p:custDataLst>
                <p:tags r:id="rId32"/>
              </p:custDataLst>
            </p:nvPr>
          </p:nvSpPr>
          <p:spPr>
            <a:xfrm>
              <a:off x="13526" y="6063"/>
              <a:ext cx="236" cy="2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chemeClr val="accent1"/>
              </a:solidFill>
            </a:ln>
            <a:effectLst>
              <a:outerShdw blurRad="63500" sx="102000" sy="102000" algn="ctr" rotWithShape="0">
                <a:schemeClr val="accent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95" name="椭圆 94"/>
            <p:cNvSpPr/>
            <p:nvPr>
              <p:custDataLst>
                <p:tags r:id="rId33"/>
              </p:custDataLst>
            </p:nvPr>
          </p:nvSpPr>
          <p:spPr>
            <a:xfrm>
              <a:off x="13571" y="6109"/>
              <a:ext cx="146" cy="146"/>
            </a:xfrm>
            <a:prstGeom prst="ellipse">
              <a:avLst/>
            </a:prstGeom>
            <a:gradFill>
              <a:gsLst>
                <a:gs pos="1000">
                  <a:schemeClr val="accent1">
                    <a:lumMod val="7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34"/>
              </p:custDataLst>
            </p:nvPr>
          </p:nvSpPr>
          <p:spPr>
            <a:xfrm>
              <a:off x="12516" y="3979"/>
              <a:ext cx="2255" cy="113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2030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年实现可装机目标，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2035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年海量软件兼容</a:t>
              </a:r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5"/>
              </p:custDataLst>
            </p:nvPr>
          </p:nvSpPr>
          <p:spPr>
            <a:xfrm>
              <a:off x="12516" y="3190"/>
              <a:ext cx="2255" cy="5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计划</a:t>
              </a:r>
              <a:endPara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91" name="直接连接符 90"/>
            <p:cNvCxnSpPr/>
            <p:nvPr>
              <p:custDataLst>
                <p:tags r:id="rId36"/>
              </p:custDataLst>
            </p:nvPr>
          </p:nvCxnSpPr>
          <p:spPr>
            <a:xfrm flipV="1">
              <a:off x="13646" y="5016"/>
              <a:ext cx="0" cy="1048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162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3" name="椭圆 102"/>
            <p:cNvSpPr/>
            <p:nvPr>
              <p:custDataLst>
                <p:tags r:id="rId37"/>
              </p:custDataLst>
            </p:nvPr>
          </p:nvSpPr>
          <p:spPr>
            <a:xfrm>
              <a:off x="8110" y="5553"/>
              <a:ext cx="236" cy="2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chemeClr val="accent1"/>
              </a:solidFill>
            </a:ln>
            <a:effectLst>
              <a:outerShdw blurRad="63500" sx="102000" sy="102000" algn="ctr" rotWithShape="0">
                <a:schemeClr val="accent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4" name="椭圆 103"/>
            <p:cNvSpPr/>
            <p:nvPr>
              <p:custDataLst>
                <p:tags r:id="rId38"/>
              </p:custDataLst>
            </p:nvPr>
          </p:nvSpPr>
          <p:spPr>
            <a:xfrm>
              <a:off x="8155" y="5598"/>
              <a:ext cx="146" cy="146"/>
            </a:xfrm>
            <a:prstGeom prst="ellipse">
              <a:avLst/>
            </a:prstGeom>
            <a:gradFill>
              <a:gsLst>
                <a:gs pos="1000">
                  <a:schemeClr val="accent1">
                    <a:lumMod val="7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39"/>
              </p:custDataLst>
            </p:nvPr>
          </p:nvSpPr>
          <p:spPr>
            <a:xfrm>
              <a:off x="7101" y="3468"/>
              <a:ext cx="2255" cy="113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Windows/Linux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的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10-100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倍甚至数百倍</a:t>
              </a:r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40"/>
              </p:custDataLst>
            </p:nvPr>
          </p:nvSpPr>
          <p:spPr>
            <a:xfrm>
              <a:off x="7101" y="2679"/>
              <a:ext cx="2255" cy="5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性能</a:t>
              </a:r>
              <a:endPara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100" name="直接连接符 99"/>
            <p:cNvCxnSpPr/>
            <p:nvPr>
              <p:custDataLst>
                <p:tags r:id="rId41"/>
              </p:custDataLst>
            </p:nvPr>
          </p:nvCxnSpPr>
          <p:spPr>
            <a:xfrm flipV="1">
              <a:off x="8230" y="4505"/>
              <a:ext cx="0" cy="1048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162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1" name="椭圆 110"/>
            <p:cNvSpPr/>
            <p:nvPr>
              <p:custDataLst>
                <p:tags r:id="rId42"/>
              </p:custDataLst>
            </p:nvPr>
          </p:nvSpPr>
          <p:spPr>
            <a:xfrm>
              <a:off x="10818" y="5553"/>
              <a:ext cx="236" cy="2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chemeClr val="accent2"/>
              </a:solidFill>
            </a:ln>
            <a:effectLst>
              <a:outerShdw blurRad="63500" sx="102000" sy="102000" algn="c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2" name="椭圆 111"/>
            <p:cNvSpPr/>
            <p:nvPr>
              <p:custDataLst>
                <p:tags r:id="rId43"/>
              </p:custDataLst>
            </p:nvPr>
          </p:nvSpPr>
          <p:spPr>
            <a:xfrm>
              <a:off x="10863" y="5598"/>
              <a:ext cx="146" cy="146"/>
            </a:xfrm>
            <a:prstGeom prst="ellipse">
              <a:avLst/>
            </a:prstGeom>
            <a:gradFill>
              <a:gsLst>
                <a:gs pos="1000">
                  <a:schemeClr val="accent2">
                    <a:lumMod val="75000"/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44"/>
              </p:custDataLst>
            </p:nvPr>
          </p:nvSpPr>
          <p:spPr>
            <a:xfrm>
              <a:off x="9808" y="3468"/>
              <a:ext cx="2255" cy="113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通过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WASI/WASM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兼容海量应用生态</a:t>
              </a:r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45"/>
              </p:custDataLst>
            </p:nvPr>
          </p:nvSpPr>
          <p:spPr>
            <a:xfrm>
              <a:off x="9808" y="2679"/>
              <a:ext cx="2255" cy="5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chemeClr val="accent2"/>
                  </a:solidFill>
                  <a:latin typeface="+mn-ea"/>
                  <a:cs typeface="+mn-ea"/>
                  <a:sym typeface="+mn-ea"/>
                </a:rPr>
                <a:t>兼容</a:t>
              </a:r>
              <a:endPara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108" name="直接连接符 107"/>
            <p:cNvCxnSpPr/>
            <p:nvPr>
              <p:custDataLst>
                <p:tags r:id="rId46"/>
              </p:custDataLst>
            </p:nvPr>
          </p:nvCxnSpPr>
          <p:spPr>
            <a:xfrm flipV="1">
              <a:off x="10938" y="4505"/>
              <a:ext cx="0" cy="1048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162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加入我们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81150"/>
            <a:ext cx="10222230" cy="4606290"/>
          </a:xfrm>
        </p:spPr>
        <p:txBody>
          <a:bodyPr>
            <a:norm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作为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BDFL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，当前急需 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Rust / 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驱动 / 文档贡献者，欢迎通过 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QQ 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频道或 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GitHub Issues 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联系我们。我们为了民用，我们需要真真正正的自主操作系统，在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2030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年实现可装机目标，在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2035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年实现海量的兼容，我们为实现中华民族伟大复兴，富强民主文明和谐自由现代化的强国而努力奋斗！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QQ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频道：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RenMinSystem64</a:t>
            </a:r>
            <a:endParaRPr lang="en-US" altLang="zh-CN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QQ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邮箱：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3671256293@qq.com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Github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https://github.com/wupeixing192/New-Operating-System</a:t>
            </a:r>
            <a:endParaRPr lang="en-US" altLang="zh-CN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Gitee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https://gitee.com/wupeixing192/New-Operating-System</a:t>
            </a:r>
            <a:endParaRPr lang="en-US" altLang="zh-CN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1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-0.15000000596046448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4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1_3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GROUP_CODE" val="l1-1"/>
  <p:tag name="KSO_WM_DIAGRAM_VERSION" val="3"/>
  <p:tag name="KSO_WM_DIAGRAM_COLOR_TRICK" val="4"/>
  <p:tag name="KSO_WM_DIAGRAM_COLOR_TEXT_CAN_REMOVE" val="n"/>
  <p:tag name="KSO_WM_UNIT_LINE_FORE_SCHEMECOLOR_INDEX" val="5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057_1*l_h_f*1_1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添加文本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1_2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4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UNIT_VALUE" val="56*58"/>
  <p:tag name="KSO_WM_UNIT_HIGHLIGHT" val="0"/>
  <p:tag name="KSO_WM_UNIT_COMPATIBLE" val="0"/>
  <p:tag name="KSO_WM_UNIT_DIAGRAM_ISNUMVISUAL" val="0"/>
  <p:tag name="KSO_WM_UNIT_DIAGRAM_ISREFERUNIT" val="0"/>
  <p:tag name="KSO_WM_UNIT_ID" val="diagram20231057_1*l_h_x*1_1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GROUP_CODE" val="l1-1"/>
  <p:tag name="KSO_WM_DIAGRAM_VERSION" val="3"/>
  <p:tag name="KSO_WM_DIAGRAM_COLOR_TRICK" val="4"/>
  <p:tag name="KSO_WM_DIAGRAM_COLOR_TEXT_CAN_REMOVE" val="n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057_1*l_h_a*1_1_1"/>
  <p:tag name="KSO_WM_TEMPLATE_CATEGORY" val="diagram"/>
  <p:tag name="KSO_WM_TEMPLATE_INDEX" val="20231057"/>
  <p:tag name="KSO_WM_UNIT_LAYERLEVEL" val="1_1_1"/>
  <p:tag name="KSO_WM_TAG_VERSION" val="3.0"/>
  <p:tag name="KSO_WM_UNIT_VALUE" val="26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0.30000001192092896,&quot;colorType&quot;:1,&quot;foreColorIndex&quot;:5,&quot;pos&quot;:0.800000011920929,&quot;transparency&quot;:0},{&quot;brightness&quot;:0,&quot;colorType&quot;:1,&quot;foreColorIndex&quot;:5,&quot;pos&quot;:0.2000000029802322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添加标题"/>
  <p:tag name="KSO_WM_UNIT_FILL_TYPE" val="3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2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-0.25,&quot;colorType&quot;:1,&quot;foreColorIndex&quot;:6,&quot;pos&quot;:0,&quot;transparency&quot;:0},{&quot;brightness&quot;:-0.10000000149011612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4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2_3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GROUP_CODE" val="l1-1"/>
  <p:tag name="KSO_WM_DIAGRAM_VERSION" val="3"/>
  <p:tag name="KSO_WM_DIAGRAM_COLOR_TRICK" val="4"/>
  <p:tag name="KSO_WM_DIAGRAM_COLOR_TEXT_CAN_REMOVE" val="n"/>
  <p:tag name="KSO_WM_UNIT_LINE_FORE_SCHEMECOLOR_INDEX" val="6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057_1*l_h_f*1_2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添加文本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057_1*l_h_a*1_2_1"/>
  <p:tag name="KSO_WM_TEMPLATE_CATEGORY" val="diagram"/>
  <p:tag name="KSO_WM_TEMPLATE_INDEX" val="20231057"/>
  <p:tag name="KSO_WM_UNIT_LAYERLEVEL" val="1_1_1"/>
  <p:tag name="KSO_WM_TAG_VERSION" val="3.0"/>
  <p:tag name="KSO_WM_UNIT_VALUE" val="26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0.30000001192092896,&quot;colorType&quot;:1,&quot;foreColorIndex&quot;:6,&quot;pos&quot;:0.800000011920929,&quot;transparency&quot;:0},{&quot;brightness&quot;:0,&quot;colorType&quot;:1,&quot;foreColorIndex&quot;:6,&quot;pos&quot;:0.2000000029802322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添加标题"/>
  <p:tag name="KSO_WM_UNIT_FILL_TYPE" val="3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2_2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0.25,&quot;colorType&quot;:1,&quot;foreColorIndex&quot;:6,&quot;pos&quot;:0,&quot;transparency&quot;:0},{&quot;brightness&quot;:0.15000000596046448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4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VALUE" val="53*48"/>
  <p:tag name="KSO_WM_UNIT_HIGHLIGHT" val="0"/>
  <p:tag name="KSO_WM_UNIT_COMPATIBLE" val="0"/>
  <p:tag name="KSO_WM_UNIT_DIAGRAM_ISNUMVISUAL" val="0"/>
  <p:tag name="KSO_WM_UNIT_DIAGRAM_ISREFERUNIT" val="0"/>
  <p:tag name="KSO_WM_UNIT_ID" val="diagram20231057_1*l_h_x*1_2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GROUP_CODE" val="l1-1"/>
  <p:tag name="KSO_WM_DIAGRAM_VERSION" val="3"/>
  <p:tag name="KSO_WM_DIAGRAM_COLOR_TRICK" val="4"/>
  <p:tag name="KSO_WM_DIAGRAM_COLOR_TEXT_CAN_REMOVE" val="n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3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-0.15000000596046448,&quot;colorType&quot;:1,&quot;foreColorIndex&quot;:7,&quot;pos&quot;:0,&quot;transparency&quot;:0},{&quot;brightness&quot;:0,&quot;colorType&quot;:1,&quot;foreColorIndex&quot;:7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4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3_3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GROUP_CODE" val="l1-1"/>
  <p:tag name="KSO_WM_DIAGRAM_VERSION" val="3"/>
  <p:tag name="KSO_WM_DIAGRAM_COLOR_TRICK" val="4"/>
  <p:tag name="KSO_WM_DIAGRAM_COLOR_TEXT_CAN_REMOVE" val="n"/>
  <p:tag name="KSO_WM_UNIT_LINE_FORE_SCHEMECOLOR_INDEX" val="7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057_1*l_h_f*1_3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添加文本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57_1*l_h_i*1_3_2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4"/>
  <p:tag name="KSO_WM_DIAGRAM_COLOR_TEXT_CAN_REMOVE" val="n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VALUE" val="56*58"/>
  <p:tag name="KSO_WM_UNIT_HIGHLIGHT" val="0"/>
  <p:tag name="KSO_WM_UNIT_COMPATIBLE" val="0"/>
  <p:tag name="KSO_WM_UNIT_DIAGRAM_ISNUMVISUAL" val="0"/>
  <p:tag name="KSO_WM_UNIT_DIAGRAM_ISREFERUNIT" val="0"/>
  <p:tag name="KSO_WM_UNIT_ID" val="diagram20231057_1*l_h_x*1_3_1"/>
  <p:tag name="KSO_WM_TEMPLATE_CATEGORY" val="diagram"/>
  <p:tag name="KSO_WM_TEMPLATE_INDEX" val="20231057"/>
  <p:tag name="KSO_WM_UNIT_LAYERLEVEL" val="1_1_1"/>
  <p:tag name="KSO_WM_TAG_VERSION" val="3.0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GROUP_CODE" val="l1-1"/>
  <p:tag name="KSO_WM_DIAGRAM_VERSION" val="3"/>
  <p:tag name="KSO_WM_DIAGRAM_COLOR_TRICK" val="4"/>
  <p:tag name="KSO_WM_DIAGRAM_COLOR_TEXT_CAN_REMOVE" val="n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057_1*l_h_a*1_3_1"/>
  <p:tag name="KSO_WM_TEMPLATE_CATEGORY" val="diagram"/>
  <p:tag name="KSO_WM_TEMPLATE_INDEX" val="20231057"/>
  <p:tag name="KSO_WM_UNIT_LAYERLEVEL" val="1_1_1"/>
  <p:tag name="KSO_WM_TAG_VERSION" val="3.0"/>
  <p:tag name="KSO_WM_UNIT_VALUE" val="26"/>
  <p:tag name="KSO_WM_DIAGRAM_MAX_ITEMCNT" val="6"/>
  <p:tag name="KSO_WM_DIAGRAM_MIN_ITEMCNT" val="3"/>
  <p:tag name="KSO_WM_DIAGRAM_VIRTUALLY_FRAME" val="{&quot;height&quot;:366.7974853515625,&quot;left&quot;:55.48883056640625,&quot;top&quot;:146.05125732421874,&quot;width&quot;:849.0585710083969}"/>
  <p:tag name="KSO_WM_DIAGRAM_COLOR_MATCH_VALUE" val="{&quot;shape&quot;:{&quot;fill&quot;:{&quot;gradient&quot;:[{&quot;brightness&quot;:0.30000001192092896,&quot;colorType&quot;:1,&quot;foreColorIndex&quot;:7,&quot;pos&quot;:0.800000011920929,&quot;transparency&quot;:0},{&quot;brightness&quot;:0,&quot;colorType&quot;:1,&quot;foreColorIndex&quot;:7,&quot;pos&quot;:0.2000000029802322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添加标题"/>
  <p:tag name="KSO_WM_UNIT_FILL_TYPE" val="3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DIAGRAM_VIRTUALLY_FRAME" val="{&quot;height&quot;:329.25,&quot;left&quot;:70.65,&quot;top&quot;:133.95,&quot;width&quot;:816.8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1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,&quot;colorType&quot;:1,&quot;foreColorIndex&quot;:5,&quot;pos&quot;:0,&quot;transparency&quot;:0.850000023841857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00000047683716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2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.2199999988079071,&quot;colorType&quot;:1,&quot;foreColorIndex&quot;:5,&quot;pos&quot;:0.009999999776482582,&quot;transparency&quot;:0},{&quot;brightness&quot;:-0.09000000357627869,&quot;colorType&quot;:1,&quot;foreColorIndex&quot;:5,&quot;pos&quot;:0.77999997138977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3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.4000000059604645,&quot;colorType&quot;:1,&quot;foreColorIndex&quot;:5,&quot;pos&quot;:0.189999997615814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4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.5,&quot;colorType&quot;:1,&quot;foreColorIndex&quot;:5,&quot;pos&quot;:0,&quot;transparency&quot;:0},{&quot;brightness&quot;:0.1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5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-0.25,&quot;colorType&quot;:1,&quot;foreColorIndex&quot;:5,&quot;pos&quot;:0.36000001430511475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6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7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-0.25,&quot;colorType&quot;:1,&quot;foreColorIndex&quot;:5,&quot;pos&quot;:0.2800000011920929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8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.4499999880790710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9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.6399999856948853,&quot;colorType&quot;:1,&quot;foreColorIndex&quot;:5,&quot;pos&quot;:0,&quot;transparency&quot;:0},{&quot;brightness&quot;:0.23000000417232513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10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11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12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13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14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0.800000011920929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i*1_15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5,&quot;pos&quot;:0,&quot;transparency&quot;:0},{&quot;brightness&quot;:0,&quot;colorType&quot;:1,&quot;foreColorIndex&quot;:5,&quot;pos&quot;:0.92000001668930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1_3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1_2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1731_5*l_h_f*1_1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1731_5*l_h_a*1_1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1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6_3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6_2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1731_5*l_h_f*1_6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1731_5*l_h_a*1_6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6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5.76904296875,&quot;left&quot;:66.65000610351562,&quot;top&quot;:127.965478515625,&quot;width&quot;:824.7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2_3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2_2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1731_5*l_h_f*1_2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1731_5*l_h_a*1_2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2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5_3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5_2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1731_5*l_h_f*1_5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1731_5*l_h_a*1_5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5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3_3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3_2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1731_5*l_h_f*1_3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1731_5*l_h_a*1_3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3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4_3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4_2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1731_5*l_h_f*1_4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1731_5*l_h_a*1_4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l_h_i*1_4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9.25,&quot;left&quot;:70.65,&quot;top&quot;:133.95,&quot;width&quot;:816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resource_record_key" val="{&quot;70&quot;:[3320075,331405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WPS 演示</Application>
  <PresentationFormat>宽屏</PresentationFormat>
  <Paragraphs>223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仿宋</vt:lpstr>
      <vt:lpstr>微软雅黑</vt:lpstr>
      <vt:lpstr>Arial Unicode MS</vt:lpstr>
      <vt:lpstr>Calibri</vt:lpstr>
      <vt:lpstr>Wingdings</vt:lpstr>
      <vt:lpstr>WPS</vt:lpstr>
      <vt:lpstr>我的新型操作系统</vt:lpstr>
      <vt:lpstr>核心思想1：彻底统一编址</vt:lpstr>
      <vt:lpstr>核心思想1：彻底统一编址</vt:lpstr>
      <vt:lpstr>核心思想1：彻底统一编址</vt:lpstr>
      <vt:lpstr>核心思想2：语言即是隔离墙</vt:lpstr>
      <vt:lpstr>核心思想2：语言即是隔离墙</vt:lpstr>
      <vt:lpstr>核心思想3：能力授权引擎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WPS_1638271446</cp:lastModifiedBy>
  <cp:revision>20</cp:revision>
  <dcterms:created xsi:type="dcterms:W3CDTF">2023-08-09T12:44:00Z</dcterms:created>
  <dcterms:modified xsi:type="dcterms:W3CDTF">2026-07-03T05:41:28Z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1A3B020912914EFBAFA11DC2E892595D_12</vt:lpwstr>
  </property>
</Properties>
</file>